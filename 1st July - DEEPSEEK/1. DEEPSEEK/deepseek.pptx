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8" r:id="rId3"/>
    <p:sldId id="263" r:id="rId4"/>
    <p:sldId id="8456" r:id="rId5"/>
    <p:sldId id="8450" r:id="rId6"/>
    <p:sldId id="8458" r:id="rId7"/>
    <p:sldId id="8459" r:id="rId8"/>
    <p:sldId id="8460" r:id="rId9"/>
    <p:sldId id="8449" r:id="rId10"/>
    <p:sldId id="84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E35BD-D7FC-4174-D0A7-E441A04FF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82D6C-2763-43AE-0F88-06040826D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1DCC8-C451-15BF-7EEF-AE042B6DB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FE6-ED11-411D-B07A-5EB1311A856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56BD0-7D1A-1F88-2C42-A5B92C13F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7F807-B112-8504-3517-1CA22C223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6421-E94E-4D7B-B937-E5CC0F5B2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693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4BDE0-6F2F-8328-91ED-79D060A6D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4CDE2-29FF-CF87-A024-2301894B8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3994A-A7A2-7E98-C8C3-FD0B71FCF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FE6-ED11-411D-B07A-5EB1311A856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FCAA6-FE62-9270-7D3A-D9ECB794F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49A54-3ECB-0424-E06F-34CF1765C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6421-E94E-4D7B-B937-E5CC0F5B2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341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90878-33E5-A1C9-4D18-30CE1121B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B32C9-AF1B-C352-C896-234DC7AD1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13FAD-8531-B0CF-6110-6E93AA5C0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FE6-ED11-411D-B07A-5EB1311A856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53307-1732-6CD3-1B9B-83E4D3C3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2404D-BD42-A03B-5B9D-B10B48748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6421-E94E-4D7B-B937-E5CC0F5B2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164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023EE-595B-FC77-DF3B-47AE8A9E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B4D4E-ADED-9E84-0825-C956EAD959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4A0BF-DE4A-7D2A-666E-25B12BD08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28C53-F839-191D-949D-AF68EB7C5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FE6-ED11-411D-B07A-5EB1311A856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2CBBB-D43C-0E35-9668-AD4D858A8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DCFD6-1E0E-3DD2-D1CA-D7F97D68A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6421-E94E-4D7B-B937-E5CC0F5B2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26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1A4C1-A450-BFD9-0508-D4E124F7D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AEA3F-0254-C257-DFFB-0D833E2CF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3C6A75-8CD7-9F65-C94B-A9BCF4483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3AEE1A-59BB-38D9-3B81-010C4FD7FE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DC484F-B6DE-5945-483E-A8114D374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AC9D6C-1F0C-C0AA-9F8C-61E29D450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FE6-ED11-411D-B07A-5EB1311A856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7318A4-CF25-7B93-1699-188C27F51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00869-85BF-341D-C62F-A36F69DA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6421-E94E-4D7B-B937-E5CC0F5B2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923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AF4D6-4002-57EC-BAD8-99734DE5D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8D2708-6D36-8F1C-EC1D-9E3A94C3D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FE6-ED11-411D-B07A-5EB1311A856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765D8-6BC2-A474-7270-64BF24EB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2120C5-FF61-F3EA-3E97-4BDFD5978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6421-E94E-4D7B-B937-E5CC0F5B2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79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4C08E6-B7F0-6862-AAD1-D3154E840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FE6-ED11-411D-B07A-5EB1311A856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4B67CA-52B2-43B8-F4E5-6F939AD7F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FEFDA-DEE1-E6BB-B904-AB214A654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6421-E94E-4D7B-B937-E5CC0F5B2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324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BCBB2-17CC-2161-EA55-E5D558C18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6B79A-D286-60B6-85C8-D5E7C55AA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0300C-D40F-E2B7-D45B-6603779EA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ED500-88A9-0DE0-D3B3-EEB97EC0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FE6-ED11-411D-B07A-5EB1311A856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44410-5C59-6E98-A4E9-36005730D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DB7FC-1472-B2C0-DAB5-FFC199BED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6421-E94E-4D7B-B937-E5CC0F5B2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38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2A53-10CC-8C21-8357-DD0A3CC5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4485A3-23F7-481C-B5F8-C64DCACCF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D7150-7F74-D4D5-7148-280AB8593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60C89-FDED-1C06-B2E4-AC9355795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FE6-ED11-411D-B07A-5EB1311A856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777E8-732D-5F31-8D18-F5268B6C9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7C9E1-7AFE-B6D2-7BC8-41E0C3E09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6421-E94E-4D7B-B937-E5CC0F5B2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503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41FFB-96D2-CEDA-5566-0CF32F19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40CD8-5DD2-C817-6DD8-886A91625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A8F23-84BA-26B7-B952-44716B9EB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FE6-ED11-411D-B07A-5EB1311A856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7764B-1277-A45D-0EE8-EDFF6E6A8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DD1DC-B848-49E0-7BEC-9FB1DC7D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6421-E94E-4D7B-B937-E5CC0F5B2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738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8D9B47-9B45-65AE-348D-C49850F3BB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E44EF-1800-3324-CE97-5E775FBB5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999C2-2F64-F49D-6AE3-3762BC41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FE6-ED11-411D-B07A-5EB1311A856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8BB29-95E5-FA28-9A05-188C964EB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11B16-7131-1D4A-CD19-2FF85060F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6421-E94E-4D7B-B937-E5CC0F5B2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348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AC0115-B91B-B1BC-FC5A-75DCC5A91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B7274-BE3A-5818-E604-5D04AC9CF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A4EFB-FC9A-F570-0953-79AC074F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46FE6-ED11-411D-B07A-5EB1311A856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BA54A-149E-7105-C24D-5FCB489CE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799AA-8DDD-EEE7-50CE-D10FA15F0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06421-E94E-4D7B-B937-E5CC0F5B2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91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rtificial_intelligence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upexciseportal.in/who-is-liang-wenfeng-deepseek/" TargetMode="External"/><Relationship Id="rId5" Type="http://schemas.openxmlformats.org/officeDocument/2006/relationships/hyperlink" Target="https://en.wikipedia.org/wiki/Large_language_models" TargetMode="External"/><Relationship Id="rId4" Type="http://schemas.openxmlformats.org/officeDocument/2006/relationships/hyperlink" Target="https://en.wikipedia.org/wiki/Open-source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epseek-ai/DeepSeek-V3" TargetMode="External"/><Relationship Id="rId7" Type="http://schemas.openxmlformats.org/officeDocument/2006/relationships/hyperlink" Target="https://www.zdnet.com/article/how-cerebras-boosted-metas-llama-to-frontier-model-performance/" TargetMode="External"/><Relationship Id="rId2" Type="http://schemas.openxmlformats.org/officeDocument/2006/relationships/hyperlink" Target="https://github.com/deepseek-ai/DeepSeek-V2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uggingface.co/Qwen" TargetMode="External"/><Relationship Id="rId5" Type="http://schemas.openxmlformats.org/officeDocument/2006/relationships/hyperlink" Target="https://www.zdnet.com/article/deepseeks-new-open-source-ai-model-can-outperform-o1-for-a-fraction-of-the-cost/" TargetMode="External"/><Relationship Id="rId4" Type="http://schemas.openxmlformats.org/officeDocument/2006/relationships/hyperlink" Target="https://github.com/deepseek-ai/DeepSeek-VL2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llama.com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openrouter.ai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gqlrw-6I0s" TargetMode="External"/><Relationship Id="rId2" Type="http://schemas.openxmlformats.org/officeDocument/2006/relationships/hyperlink" Target="http://www.youtube.com/watch?v=8nWjvn8ZKtU&amp;t=7553s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c1GqJ-VFLW0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black and yellow cover with colorful squares&#10;&#10;AI-generated content may be incorrect.">
            <a:extLst>
              <a:ext uri="{FF2B5EF4-FFF2-40B4-BE49-F238E27FC236}">
                <a16:creationId xmlns:a16="http://schemas.microsoft.com/office/drawing/2014/main" id="{98D30195-192B-A961-E2B2-C759B8B13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2" b="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90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29D27-DA21-4860-F0E2-EDDB9BE45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B17D6-AB29-C6F7-46AB-9E8F5B7C2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669925"/>
            <a:ext cx="2667000" cy="7778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D076AB5A-4408-B72E-36B5-A166D01B5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314" y="2141534"/>
            <a:ext cx="11462657" cy="4313689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</a:rPr>
              <a:t>1- My Introduction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2- Introduction to  </a:t>
            </a:r>
            <a:r>
              <a:rPr lang="en-US" sz="3200" dirty="0" err="1">
                <a:solidFill>
                  <a:schemeClr val="bg1"/>
                </a:solidFill>
              </a:rPr>
              <a:t>DeepSeek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3- </a:t>
            </a:r>
            <a:r>
              <a:rPr lang="en-US" sz="3200" dirty="0" err="1">
                <a:solidFill>
                  <a:schemeClr val="bg1"/>
                </a:solidFill>
              </a:rPr>
              <a:t>Deepseek</a:t>
            </a:r>
            <a:r>
              <a:rPr lang="en-US" sz="3200" dirty="0">
                <a:solidFill>
                  <a:schemeClr val="bg1"/>
                </a:solidFill>
              </a:rPr>
              <a:t> Model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4- </a:t>
            </a:r>
            <a:r>
              <a:rPr lang="en-US" sz="3100" dirty="0">
                <a:solidFill>
                  <a:schemeClr val="bg1"/>
                </a:solidFill>
              </a:rPr>
              <a:t>Project:1 </a:t>
            </a:r>
            <a:r>
              <a:rPr lang="en-US" sz="31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3100" dirty="0">
                <a:solidFill>
                  <a:schemeClr val="bg1"/>
                </a:solidFill>
              </a:rPr>
              <a:t>DeepSeek-R1 Bot Using </a:t>
            </a:r>
            <a:r>
              <a:rPr lang="en-US" sz="3100" dirty="0" err="1">
                <a:solidFill>
                  <a:schemeClr val="bg1"/>
                </a:solidFill>
              </a:rPr>
              <a:t>Ollama</a:t>
            </a:r>
            <a:endParaRPr lang="en-US" sz="31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5- Practicle:2 </a:t>
            </a:r>
            <a:r>
              <a:rPr lang="en-US" sz="32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3200" dirty="0" err="1">
                <a:solidFill>
                  <a:schemeClr val="bg1"/>
                </a:solidFill>
                <a:sym typeface="Wingdings" panose="05000000000000000000" pitchFamily="2" charset="2"/>
              </a:rPr>
              <a:t>Deepseek</a:t>
            </a:r>
            <a:r>
              <a:rPr lang="en-US" sz="3200" dirty="0">
                <a:solidFill>
                  <a:schemeClr val="bg1"/>
                </a:solidFill>
                <a:sym typeface="Wingdings" panose="05000000000000000000" pitchFamily="2" charset="2"/>
              </a:rPr>
              <a:t> integration using </a:t>
            </a:r>
            <a:r>
              <a:rPr lang="en-US" sz="3200" dirty="0" err="1">
                <a:solidFill>
                  <a:schemeClr val="bg1"/>
                </a:solidFill>
              </a:rPr>
              <a:t>OpenRouter</a:t>
            </a:r>
            <a:endParaRPr lang="en-US" sz="3200" dirty="0">
              <a:solidFill>
                <a:schemeClr val="bg1"/>
              </a:solidFill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6- Existing Generative AI video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7- Upcoming Training </a:t>
            </a:r>
            <a:r>
              <a:rPr lang="en-US" sz="3200" dirty="0" err="1">
                <a:solidFill>
                  <a:schemeClr val="bg1"/>
                </a:solidFill>
              </a:rPr>
              <a:t>Programme</a:t>
            </a:r>
            <a:endParaRPr lang="en-US" sz="3200" dirty="0">
              <a:solidFill>
                <a:schemeClr val="bg1"/>
              </a:solidFill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8- Q &amp; A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15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giving a thumbs up&#10;&#10;Description automatically generated">
            <a:extLst>
              <a:ext uri="{FF2B5EF4-FFF2-40B4-BE49-F238E27FC236}">
                <a16:creationId xmlns:a16="http://schemas.microsoft.com/office/drawing/2014/main" id="{5FC317B8-B733-C053-2116-AEC4CB424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E92C674-A09E-D52D-DC5C-E445A9C914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443160"/>
              </p:ext>
            </p:extLst>
          </p:nvPr>
        </p:nvGraphicFramePr>
        <p:xfrm>
          <a:off x="5543188" y="2021983"/>
          <a:ext cx="14478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1447652" imgH="527234" progId="Package">
                  <p:embed/>
                </p:oleObj>
              </mc:Choice>
              <mc:Fallback>
                <p:oleObj name="Packager Shell Object" showAsIcon="1" r:id="rId3" imgW="1447652" imgH="527234" progId="Packag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E92C674-A09E-D52D-DC5C-E445A9C914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43188" y="2021983"/>
                        <a:ext cx="144780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790284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112E02D-8CD2-F229-1195-3C82F848ADAD}"/>
              </a:ext>
            </a:extLst>
          </p:cNvPr>
          <p:cNvSpPr/>
          <p:nvPr/>
        </p:nvSpPr>
        <p:spPr>
          <a:xfrm>
            <a:off x="3389642" y="108156"/>
            <a:ext cx="2185241" cy="75660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DATA SCIENCE , DATA ANALYTICS</a:t>
            </a:r>
            <a:endParaRPr lang="en-IN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75F798E-D006-C459-C4E9-FED7557AD220}"/>
              </a:ext>
            </a:extLst>
          </p:cNvPr>
          <p:cNvSpPr/>
          <p:nvPr/>
        </p:nvSpPr>
        <p:spPr>
          <a:xfrm>
            <a:off x="6241054" y="2746754"/>
            <a:ext cx="2413820" cy="5462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GENERATIVE </a:t>
            </a:r>
          </a:p>
          <a:p>
            <a:pPr algn="ctr"/>
            <a:r>
              <a:rPr lang="en-US" b="1" dirty="0"/>
              <a:t>Artificial Intelligence </a:t>
            </a:r>
            <a:endParaRPr lang="en-IN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D42463-A19B-F92B-7887-0211BA87CB3E}"/>
              </a:ext>
            </a:extLst>
          </p:cNvPr>
          <p:cNvSpPr/>
          <p:nvPr/>
        </p:nvSpPr>
        <p:spPr>
          <a:xfrm>
            <a:off x="3556807" y="2715569"/>
            <a:ext cx="1745222" cy="648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ARTIFICIAL ITELLIGENCE</a:t>
            </a:r>
            <a:endParaRPr lang="en-IN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F93A78A-5B56-E339-ABFF-A593F69028A1}"/>
              </a:ext>
            </a:extLst>
          </p:cNvPr>
          <p:cNvSpPr/>
          <p:nvPr/>
        </p:nvSpPr>
        <p:spPr>
          <a:xfrm>
            <a:off x="408035" y="2750647"/>
            <a:ext cx="1406016" cy="648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MACHINE LEARNING</a:t>
            </a:r>
            <a:endParaRPr lang="en-IN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B8DEE87-8D6A-5E51-A9CF-5D96629A3E54}"/>
              </a:ext>
            </a:extLst>
          </p:cNvPr>
          <p:cNvSpPr/>
          <p:nvPr/>
        </p:nvSpPr>
        <p:spPr>
          <a:xfrm>
            <a:off x="324450" y="3965206"/>
            <a:ext cx="1661656" cy="336754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REGRESSION 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8C30A2-6C06-64B8-C842-1295BD47FADB}"/>
              </a:ext>
            </a:extLst>
          </p:cNvPr>
          <p:cNvSpPr/>
          <p:nvPr/>
        </p:nvSpPr>
        <p:spPr>
          <a:xfrm>
            <a:off x="324450" y="4425907"/>
            <a:ext cx="2000869" cy="4135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CLASSIFICATION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DBA6B65-DA9B-EF09-DD69-7E10FAF22043}"/>
              </a:ext>
            </a:extLst>
          </p:cNvPr>
          <p:cNvSpPr/>
          <p:nvPr/>
        </p:nvSpPr>
        <p:spPr>
          <a:xfrm>
            <a:off x="334268" y="4981539"/>
            <a:ext cx="1769809" cy="34413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CLUSTERING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44EBEB2-B288-40BA-BC67-9DB11F5B3AF6}"/>
              </a:ext>
            </a:extLst>
          </p:cNvPr>
          <p:cNvSpPr/>
          <p:nvPr/>
        </p:nvSpPr>
        <p:spPr>
          <a:xfrm>
            <a:off x="4095128" y="3944249"/>
            <a:ext cx="786585" cy="33675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NLP 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2056D5-669B-FC12-A2F6-D14A87E08959}"/>
              </a:ext>
            </a:extLst>
          </p:cNvPr>
          <p:cNvSpPr/>
          <p:nvPr/>
        </p:nvSpPr>
        <p:spPr>
          <a:xfrm>
            <a:off x="3556807" y="4374047"/>
            <a:ext cx="1922211" cy="34412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DEEP LEARNING 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D99D6C9-6296-57F1-5661-160266FA5BB4}"/>
              </a:ext>
            </a:extLst>
          </p:cNvPr>
          <p:cNvSpPr/>
          <p:nvPr/>
        </p:nvSpPr>
        <p:spPr>
          <a:xfrm>
            <a:off x="3556807" y="4823191"/>
            <a:ext cx="2231927" cy="41048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NEURAL NETWORK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8D491D7-B6D6-0B6F-7BA2-8D86798CE481}"/>
              </a:ext>
            </a:extLst>
          </p:cNvPr>
          <p:cNvSpPr/>
          <p:nvPr/>
        </p:nvSpPr>
        <p:spPr>
          <a:xfrm>
            <a:off x="6843307" y="3783305"/>
            <a:ext cx="1641987" cy="49284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LLM MODELS</a:t>
            </a:r>
            <a:endParaRPr lang="en-IN" b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63FEC36-D3E3-40FA-D224-532BA091C796}"/>
              </a:ext>
            </a:extLst>
          </p:cNvPr>
          <p:cNvSpPr/>
          <p:nvPr/>
        </p:nvSpPr>
        <p:spPr>
          <a:xfrm>
            <a:off x="6626965" y="5647404"/>
            <a:ext cx="820999" cy="32321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META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920312B-AD81-2292-05D8-5FC033C21A08}"/>
              </a:ext>
            </a:extLst>
          </p:cNvPr>
          <p:cNvSpPr/>
          <p:nvPr/>
        </p:nvSpPr>
        <p:spPr>
          <a:xfrm>
            <a:off x="6602362" y="5253270"/>
            <a:ext cx="1194625" cy="31403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GOOGLE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F1CABFF-357B-6F5D-3AD6-B808F6072068}"/>
              </a:ext>
            </a:extLst>
          </p:cNvPr>
          <p:cNvSpPr/>
          <p:nvPr/>
        </p:nvSpPr>
        <p:spPr>
          <a:xfrm>
            <a:off x="6571706" y="4859757"/>
            <a:ext cx="1125799" cy="33675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OPEN AI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27F15EC-2934-8E72-7878-8672F474E25A}"/>
              </a:ext>
            </a:extLst>
          </p:cNvPr>
          <p:cNvSpPr/>
          <p:nvPr/>
        </p:nvSpPr>
        <p:spPr>
          <a:xfrm>
            <a:off x="6636774" y="6028505"/>
            <a:ext cx="1125800" cy="40584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CLAUDE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861634A-538F-8D27-427A-B95B9138E0ED}"/>
              </a:ext>
            </a:extLst>
          </p:cNvPr>
          <p:cNvSpPr/>
          <p:nvPr/>
        </p:nvSpPr>
        <p:spPr>
          <a:xfrm>
            <a:off x="280215" y="1476064"/>
            <a:ext cx="1661656" cy="648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SUPERVISED LEARNING</a:t>
            </a:r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684167E-C91A-EE37-0658-EFBDA291BF88}"/>
              </a:ext>
            </a:extLst>
          </p:cNvPr>
          <p:cNvSpPr/>
          <p:nvPr/>
        </p:nvSpPr>
        <p:spPr>
          <a:xfrm>
            <a:off x="3468312" y="1496604"/>
            <a:ext cx="1922211" cy="648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UNSUPERVISED LEARNING</a:t>
            </a:r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5913140-B15C-33E8-BA1D-EF01D31BB2DD}"/>
              </a:ext>
            </a:extLst>
          </p:cNvPr>
          <p:cNvSpPr/>
          <p:nvPr/>
        </p:nvSpPr>
        <p:spPr>
          <a:xfrm>
            <a:off x="6536018" y="1500218"/>
            <a:ext cx="2118856" cy="648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REINFORCEMENT LEARNING</a:t>
            </a:r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0821A4A8-9261-63E2-B7BA-07BF9CE7F37E}"/>
              </a:ext>
            </a:extLst>
          </p:cNvPr>
          <p:cNvSpPr/>
          <p:nvPr/>
        </p:nvSpPr>
        <p:spPr>
          <a:xfrm>
            <a:off x="7514315" y="2249765"/>
            <a:ext cx="216310" cy="4658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E4B0751E-BC37-185A-2017-7A376421C5F8}"/>
              </a:ext>
            </a:extLst>
          </p:cNvPr>
          <p:cNvSpPr/>
          <p:nvPr/>
        </p:nvSpPr>
        <p:spPr>
          <a:xfrm>
            <a:off x="4321262" y="2217660"/>
            <a:ext cx="216310" cy="4658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438DE9AD-E062-631A-6D27-E87B92E8E507}"/>
              </a:ext>
            </a:extLst>
          </p:cNvPr>
          <p:cNvSpPr/>
          <p:nvPr/>
        </p:nvSpPr>
        <p:spPr>
          <a:xfrm>
            <a:off x="894733" y="2253519"/>
            <a:ext cx="216310" cy="4658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F167B5F3-4830-97BC-27DD-99306EE222E8}"/>
              </a:ext>
            </a:extLst>
          </p:cNvPr>
          <p:cNvSpPr/>
          <p:nvPr/>
        </p:nvSpPr>
        <p:spPr>
          <a:xfrm>
            <a:off x="7514315" y="3292973"/>
            <a:ext cx="223641" cy="4658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87F6857D-B13F-0839-388B-82C8C5FD0612}"/>
              </a:ext>
            </a:extLst>
          </p:cNvPr>
          <p:cNvSpPr/>
          <p:nvPr/>
        </p:nvSpPr>
        <p:spPr>
          <a:xfrm>
            <a:off x="4380266" y="3406317"/>
            <a:ext cx="216310" cy="4658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76615395-D7A8-24F2-6A7C-A1F73D5107EC}"/>
              </a:ext>
            </a:extLst>
          </p:cNvPr>
          <p:cNvSpPr/>
          <p:nvPr/>
        </p:nvSpPr>
        <p:spPr>
          <a:xfrm>
            <a:off x="914392" y="3467173"/>
            <a:ext cx="216310" cy="4658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9ED2B0C4-6791-AFE6-E2D2-223B7F936798}"/>
              </a:ext>
            </a:extLst>
          </p:cNvPr>
          <p:cNvSpPr/>
          <p:nvPr/>
        </p:nvSpPr>
        <p:spPr>
          <a:xfrm>
            <a:off x="7513089" y="4351544"/>
            <a:ext cx="216310" cy="4658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41A5953-4344-80E0-90C7-964F564DDD3D}"/>
              </a:ext>
            </a:extLst>
          </p:cNvPr>
          <p:cNvCxnSpPr>
            <a:cxnSpLocks/>
          </p:cNvCxnSpPr>
          <p:nvPr/>
        </p:nvCxnSpPr>
        <p:spPr>
          <a:xfrm flipH="1">
            <a:off x="1986106" y="850409"/>
            <a:ext cx="1482206" cy="62565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961FDEA-C698-580A-D9E2-B6838060BB46}"/>
              </a:ext>
            </a:extLst>
          </p:cNvPr>
          <p:cNvCxnSpPr>
            <a:cxnSpLocks/>
          </p:cNvCxnSpPr>
          <p:nvPr/>
        </p:nvCxnSpPr>
        <p:spPr>
          <a:xfrm>
            <a:off x="5574883" y="850409"/>
            <a:ext cx="1624792" cy="57025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C0C8BAF-746C-C1AC-5125-BDFE912A68AB}"/>
              </a:ext>
            </a:extLst>
          </p:cNvPr>
          <p:cNvCxnSpPr>
            <a:cxnSpLocks/>
          </p:cNvCxnSpPr>
          <p:nvPr/>
        </p:nvCxnSpPr>
        <p:spPr>
          <a:xfrm>
            <a:off x="4321262" y="896866"/>
            <a:ext cx="0" cy="50319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1" name="Right Brace 80">
            <a:extLst>
              <a:ext uri="{FF2B5EF4-FFF2-40B4-BE49-F238E27FC236}">
                <a16:creationId xmlns:a16="http://schemas.microsoft.com/office/drawing/2014/main" id="{1A657398-92EC-B612-7FC0-B231319DBFD9}"/>
              </a:ext>
            </a:extLst>
          </p:cNvPr>
          <p:cNvSpPr/>
          <p:nvPr/>
        </p:nvSpPr>
        <p:spPr>
          <a:xfrm>
            <a:off x="7838797" y="4960603"/>
            <a:ext cx="963561" cy="1517584"/>
          </a:xfrm>
          <a:prstGeom prst="rightBrac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3" name="Picture 2">
            <a:extLst>
              <a:ext uri="{FF2B5EF4-FFF2-40B4-BE49-F238E27FC236}">
                <a16:creationId xmlns:a16="http://schemas.microsoft.com/office/drawing/2014/main" id="{7BC48D98-9B01-C8E1-A859-E7D09554A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2358" y="-1"/>
            <a:ext cx="3357697" cy="3965207"/>
          </a:xfrm>
          <a:prstGeom prst="rect">
            <a:avLst/>
          </a:prstGeom>
          <a:noFill/>
          <a:effectLst>
            <a:glow rad="127000">
              <a:srgbClr val="FF0000"/>
            </a:glow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D9788BF-DA73-A5D5-CBB7-E898A9E203A7}"/>
              </a:ext>
            </a:extLst>
          </p:cNvPr>
          <p:cNvSpPr/>
          <p:nvPr/>
        </p:nvSpPr>
        <p:spPr>
          <a:xfrm>
            <a:off x="8943650" y="5410285"/>
            <a:ext cx="1125799" cy="61822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AI AGENTS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C57A4B9C-B7AE-6239-3C58-71BBFFEF9590}"/>
              </a:ext>
            </a:extLst>
          </p:cNvPr>
          <p:cNvSpPr/>
          <p:nvPr/>
        </p:nvSpPr>
        <p:spPr>
          <a:xfrm>
            <a:off x="10702503" y="5073531"/>
            <a:ext cx="1125799" cy="33675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CREW AI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EAA74E3A-8AB6-597E-D8DD-21F45F98C2AE}"/>
              </a:ext>
            </a:extLst>
          </p:cNvPr>
          <p:cNvSpPr/>
          <p:nvPr/>
        </p:nvSpPr>
        <p:spPr>
          <a:xfrm>
            <a:off x="10704916" y="5621497"/>
            <a:ext cx="1359432" cy="37503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SUPER AGI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0B1106AB-3FA4-C69E-E80F-E89C8D4416A0}"/>
              </a:ext>
            </a:extLst>
          </p:cNvPr>
          <p:cNvSpPr/>
          <p:nvPr/>
        </p:nvSpPr>
        <p:spPr>
          <a:xfrm>
            <a:off x="10704916" y="6207739"/>
            <a:ext cx="1125799" cy="33675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Unfetch</a:t>
            </a:r>
            <a:r>
              <a:rPr lang="en-I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A4EA9EB-9720-4635-1FE9-2BC6AF91AB98}"/>
              </a:ext>
            </a:extLst>
          </p:cNvPr>
          <p:cNvCxnSpPr>
            <a:cxnSpLocks/>
            <a:stCxn id="84" idx="3"/>
          </p:cNvCxnSpPr>
          <p:nvPr/>
        </p:nvCxnSpPr>
        <p:spPr>
          <a:xfrm flipV="1">
            <a:off x="10069449" y="5337249"/>
            <a:ext cx="582900" cy="38214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41B2F45-144C-AF56-4535-9B5C8363D9AE}"/>
              </a:ext>
            </a:extLst>
          </p:cNvPr>
          <p:cNvCxnSpPr>
            <a:cxnSpLocks/>
            <a:endCxn id="86" idx="1"/>
          </p:cNvCxnSpPr>
          <p:nvPr/>
        </p:nvCxnSpPr>
        <p:spPr>
          <a:xfrm flipV="1">
            <a:off x="10087004" y="5809012"/>
            <a:ext cx="617912" cy="8961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2085746-F25E-DA32-FEF6-5A2EBBF45AEE}"/>
              </a:ext>
            </a:extLst>
          </p:cNvPr>
          <p:cNvCxnSpPr>
            <a:cxnSpLocks/>
            <a:endCxn id="88" idx="1"/>
          </p:cNvCxnSpPr>
          <p:nvPr/>
        </p:nvCxnSpPr>
        <p:spPr>
          <a:xfrm>
            <a:off x="10069449" y="6028505"/>
            <a:ext cx="635467" cy="34761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F0CA91-ED1E-8525-4390-C6F9BFD5E0AE}"/>
              </a:ext>
            </a:extLst>
          </p:cNvPr>
          <p:cNvSpPr/>
          <p:nvPr/>
        </p:nvSpPr>
        <p:spPr>
          <a:xfrm>
            <a:off x="6615525" y="6492230"/>
            <a:ext cx="1364233" cy="34549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DEEPSEEK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83979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44E337-3E5D-4A1F-A5A1-2057F25B8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A50D69-7CF7-4844-B844-A2B821C77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7854"/>
            <a:ext cx="12192000" cy="6865854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21A661-AF51-55D3-F4E0-994086672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4758" y="0"/>
            <a:ext cx="8437241" cy="7553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highlight>
                  <a:srgbClr val="000080"/>
                </a:highlight>
              </a:rPr>
              <a:t>What is </a:t>
            </a:r>
            <a:r>
              <a:rPr lang="en-US" sz="4400" dirty="0" err="1">
                <a:solidFill>
                  <a:schemeClr val="bg1"/>
                </a:solidFill>
                <a:highlight>
                  <a:srgbClr val="000080"/>
                </a:highlight>
              </a:rPr>
              <a:t>DeepSeek</a:t>
            </a:r>
            <a:r>
              <a:rPr lang="en-US" sz="4400" dirty="0">
                <a:solidFill>
                  <a:schemeClr val="bg1"/>
                </a:solidFill>
                <a:highlight>
                  <a:srgbClr val="000080"/>
                </a:highlight>
              </a:rPr>
              <a:t> ?</a:t>
            </a:r>
          </a:p>
        </p:txBody>
      </p:sp>
      <p:pic>
        <p:nvPicPr>
          <p:cNvPr id="5" name="Picture 4" descr="Person walking up a stairs">
            <a:extLst>
              <a:ext uri="{FF2B5EF4-FFF2-40B4-BE49-F238E27FC236}">
                <a16:creationId xmlns:a16="http://schemas.microsoft.com/office/drawing/2014/main" id="{94BEF449-0AFA-7E4C-B4DC-FBC6C6BB43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193" r="22261" b="-1"/>
          <a:stretch/>
        </p:blipFill>
        <p:spPr>
          <a:xfrm>
            <a:off x="20" y="10"/>
            <a:ext cx="3754739" cy="6857990"/>
          </a:xfrm>
          <a:custGeom>
            <a:avLst/>
            <a:gdLst/>
            <a:ahLst/>
            <a:cxnLst/>
            <a:rect l="l" t="t" r="r" b="b"/>
            <a:pathLst>
              <a:path w="3754759" h="6858000">
                <a:moveTo>
                  <a:pt x="0" y="0"/>
                </a:moveTo>
                <a:lnTo>
                  <a:pt x="3405358" y="0"/>
                </a:lnTo>
                <a:lnTo>
                  <a:pt x="3406298" y="5103"/>
                </a:lnTo>
                <a:cubicBezTo>
                  <a:pt x="3408705" y="9272"/>
                  <a:pt x="3410993" y="13534"/>
                  <a:pt x="3408744" y="22806"/>
                </a:cubicBezTo>
                <a:cubicBezTo>
                  <a:pt x="3398212" y="18869"/>
                  <a:pt x="3412504" y="58782"/>
                  <a:pt x="3403554" y="60481"/>
                </a:cubicBezTo>
                <a:cubicBezTo>
                  <a:pt x="3417198" y="75379"/>
                  <a:pt x="3401704" y="83956"/>
                  <a:pt x="3406685" y="104437"/>
                </a:cubicBezTo>
                <a:cubicBezTo>
                  <a:pt x="3412035" y="113935"/>
                  <a:pt x="3413215" y="120918"/>
                  <a:pt x="3408439" y="130745"/>
                </a:cubicBezTo>
                <a:cubicBezTo>
                  <a:pt x="3434362" y="174436"/>
                  <a:pt x="3410826" y="157826"/>
                  <a:pt x="3422002" y="199353"/>
                </a:cubicBezTo>
                <a:cubicBezTo>
                  <a:pt x="3433366" y="235046"/>
                  <a:pt x="3441595" y="275734"/>
                  <a:pt x="3466217" y="309590"/>
                </a:cubicBezTo>
                <a:cubicBezTo>
                  <a:pt x="3473022" y="315692"/>
                  <a:pt x="3476249" y="331335"/>
                  <a:pt x="3473425" y="344525"/>
                </a:cubicBezTo>
                <a:cubicBezTo>
                  <a:pt x="3472938" y="346792"/>
                  <a:pt x="3472286" y="348904"/>
                  <a:pt x="3471491" y="350788"/>
                </a:cubicBezTo>
                <a:cubicBezTo>
                  <a:pt x="3476473" y="380853"/>
                  <a:pt x="3497528" y="490678"/>
                  <a:pt x="3503314" y="524915"/>
                </a:cubicBezTo>
                <a:cubicBezTo>
                  <a:pt x="3495110" y="528110"/>
                  <a:pt x="3511009" y="544789"/>
                  <a:pt x="3506208" y="556205"/>
                </a:cubicBezTo>
                <a:cubicBezTo>
                  <a:pt x="3501906" y="564424"/>
                  <a:pt x="3505727" y="571402"/>
                  <a:pt x="3506503" y="579730"/>
                </a:cubicBezTo>
                <a:cubicBezTo>
                  <a:pt x="3503352" y="590904"/>
                  <a:pt x="3511763" y="626437"/>
                  <a:pt x="3516997" y="635552"/>
                </a:cubicBezTo>
                <a:cubicBezTo>
                  <a:pt x="3534688" y="657082"/>
                  <a:pt x="3524838" y="708447"/>
                  <a:pt x="3538464" y="726388"/>
                </a:cubicBezTo>
                <a:cubicBezTo>
                  <a:pt x="3540659" y="733032"/>
                  <a:pt x="3541735" y="739585"/>
                  <a:pt x="3542115" y="746049"/>
                </a:cubicBezTo>
                <a:lnTo>
                  <a:pt x="3541598" y="764218"/>
                </a:lnTo>
                <a:lnTo>
                  <a:pt x="3538294" y="769538"/>
                </a:lnTo>
                <a:lnTo>
                  <a:pt x="3539714" y="780556"/>
                </a:lnTo>
                <a:lnTo>
                  <a:pt x="3539328" y="783752"/>
                </a:lnTo>
                <a:cubicBezTo>
                  <a:pt x="3538575" y="789859"/>
                  <a:pt x="3537953" y="795880"/>
                  <a:pt x="3537882" y="801812"/>
                </a:cubicBezTo>
                <a:cubicBezTo>
                  <a:pt x="3555332" y="793164"/>
                  <a:pt x="3540143" y="850853"/>
                  <a:pt x="3553763" y="833773"/>
                </a:cubicBezTo>
                <a:cubicBezTo>
                  <a:pt x="3556400" y="864868"/>
                  <a:pt x="3568671" y="840452"/>
                  <a:pt x="3557696" y="878520"/>
                </a:cubicBezTo>
                <a:cubicBezTo>
                  <a:pt x="3574636" y="926170"/>
                  <a:pt x="3572932" y="1002669"/>
                  <a:pt x="3596902" y="1039468"/>
                </a:cubicBezTo>
                <a:cubicBezTo>
                  <a:pt x="3588227" y="1035176"/>
                  <a:pt x="3582669" y="1055878"/>
                  <a:pt x="3587550" y="1069793"/>
                </a:cubicBezTo>
                <a:cubicBezTo>
                  <a:pt x="3553603" y="1054905"/>
                  <a:pt x="3620138" y="1124159"/>
                  <a:pt x="3598129" y="1137690"/>
                </a:cubicBezTo>
                <a:cubicBezTo>
                  <a:pt x="3619154" y="1137277"/>
                  <a:pt x="3657845" y="1198819"/>
                  <a:pt x="3642072" y="1229443"/>
                </a:cubicBezTo>
                <a:cubicBezTo>
                  <a:pt x="3648492" y="1274612"/>
                  <a:pt x="3667414" y="1305895"/>
                  <a:pt x="3662799" y="1353804"/>
                </a:cubicBezTo>
                <a:cubicBezTo>
                  <a:pt x="3665680" y="1355144"/>
                  <a:pt x="3668149" y="1357448"/>
                  <a:pt x="3670319" y="1360420"/>
                </a:cubicBezTo>
                <a:lnTo>
                  <a:pt x="3675717" y="1370453"/>
                </a:lnTo>
                <a:lnTo>
                  <a:pt x="3675458" y="1372456"/>
                </a:lnTo>
                <a:cubicBezTo>
                  <a:pt x="3675775" y="1380261"/>
                  <a:pt x="3677154" y="1384198"/>
                  <a:pt x="3678998" y="1386422"/>
                </a:cubicBezTo>
                <a:lnTo>
                  <a:pt x="3681613" y="1387932"/>
                </a:lnTo>
                <a:lnTo>
                  <a:pt x="3684619" y="1397028"/>
                </a:lnTo>
                <a:lnTo>
                  <a:pt x="3692094" y="1413643"/>
                </a:lnTo>
                <a:lnTo>
                  <a:pt x="3692036" y="1417975"/>
                </a:lnTo>
                <a:lnTo>
                  <a:pt x="3701043" y="1444940"/>
                </a:lnTo>
                <a:lnTo>
                  <a:pt x="3700474" y="1445893"/>
                </a:lnTo>
                <a:cubicBezTo>
                  <a:pt x="3699407" y="1448641"/>
                  <a:pt x="3699006" y="1451835"/>
                  <a:pt x="3699990" y="1456030"/>
                </a:cubicBezTo>
                <a:cubicBezTo>
                  <a:pt x="3688343" y="1458099"/>
                  <a:pt x="3696713" y="1461887"/>
                  <a:pt x="3700642" y="1474079"/>
                </a:cubicBezTo>
                <a:cubicBezTo>
                  <a:pt x="3683431" y="1480016"/>
                  <a:pt x="3700716" y="1509516"/>
                  <a:pt x="3693587" y="1522890"/>
                </a:cubicBezTo>
                <a:cubicBezTo>
                  <a:pt x="3696861" y="1531716"/>
                  <a:pt x="3700010" y="1541157"/>
                  <a:pt x="3702900" y="1551068"/>
                </a:cubicBezTo>
                <a:lnTo>
                  <a:pt x="3708038" y="1631578"/>
                </a:lnTo>
                <a:lnTo>
                  <a:pt x="3698097" y="1716642"/>
                </a:lnTo>
                <a:cubicBezTo>
                  <a:pt x="3699314" y="1747867"/>
                  <a:pt x="3695412" y="1775147"/>
                  <a:pt x="3700384" y="1801382"/>
                </a:cubicBezTo>
                <a:cubicBezTo>
                  <a:pt x="3696845" y="1812311"/>
                  <a:pt x="3695699" y="1822504"/>
                  <a:pt x="3702257" y="1832013"/>
                </a:cubicBezTo>
                <a:cubicBezTo>
                  <a:pt x="3701651" y="1861238"/>
                  <a:pt x="3693313" y="1868713"/>
                  <a:pt x="3700986" y="1886838"/>
                </a:cubicBezTo>
                <a:cubicBezTo>
                  <a:pt x="3687741" y="1903887"/>
                  <a:pt x="3693148" y="1904594"/>
                  <a:pt x="3697545" y="1912087"/>
                </a:cubicBezTo>
                <a:lnTo>
                  <a:pt x="3697885" y="1913171"/>
                </a:lnTo>
                <a:lnTo>
                  <a:pt x="3695987" y="1915505"/>
                </a:lnTo>
                <a:lnTo>
                  <a:pt x="3695284" y="1920179"/>
                </a:lnTo>
                <a:lnTo>
                  <a:pt x="3696499" y="1932787"/>
                </a:lnTo>
                <a:lnTo>
                  <a:pt x="3697473" y="1937503"/>
                </a:lnTo>
                <a:cubicBezTo>
                  <a:pt x="3697953" y="1940760"/>
                  <a:pt x="3698023" y="1942937"/>
                  <a:pt x="3697799" y="1944457"/>
                </a:cubicBezTo>
                <a:lnTo>
                  <a:pt x="3697642" y="1944638"/>
                </a:lnTo>
                <a:lnTo>
                  <a:pt x="3698268" y="1951136"/>
                </a:lnTo>
                <a:cubicBezTo>
                  <a:pt x="3699704" y="1962083"/>
                  <a:pt x="3701457" y="1972719"/>
                  <a:pt x="3703418" y="1982828"/>
                </a:cubicBezTo>
                <a:cubicBezTo>
                  <a:pt x="3694620" y="1991887"/>
                  <a:pt x="3707345" y="2028973"/>
                  <a:pt x="3689767" y="2025705"/>
                </a:cubicBezTo>
                <a:cubicBezTo>
                  <a:pt x="3691896" y="2039367"/>
                  <a:pt x="3699517" y="2047321"/>
                  <a:pt x="3687894" y="2043252"/>
                </a:cubicBezTo>
                <a:cubicBezTo>
                  <a:pt x="3688268" y="2047766"/>
                  <a:pt x="3687435" y="2050599"/>
                  <a:pt x="3686015" y="2052668"/>
                </a:cubicBezTo>
                <a:lnTo>
                  <a:pt x="3685329" y="2053280"/>
                </a:lnTo>
                <a:lnTo>
                  <a:pt x="3690348" y="2083660"/>
                </a:lnTo>
                <a:lnTo>
                  <a:pt x="3689688" y="2087758"/>
                </a:lnTo>
                <a:lnTo>
                  <a:pt x="3694656" y="2107476"/>
                </a:lnTo>
                <a:lnTo>
                  <a:pt x="3696317" y="2117709"/>
                </a:lnTo>
                <a:lnTo>
                  <a:pt x="3698652" y="2120508"/>
                </a:lnTo>
                <a:cubicBezTo>
                  <a:pt x="3700138" y="2123582"/>
                  <a:pt x="3700933" y="2128051"/>
                  <a:pt x="3700157" y="2135655"/>
                </a:cubicBezTo>
                <a:lnTo>
                  <a:pt x="3699626" y="2137431"/>
                </a:lnTo>
                <a:lnTo>
                  <a:pt x="3703486" y="2149795"/>
                </a:lnTo>
                <a:cubicBezTo>
                  <a:pt x="3705184" y="2153754"/>
                  <a:pt x="3707268" y="2157232"/>
                  <a:pt x="3709885" y="2160002"/>
                </a:cubicBezTo>
                <a:cubicBezTo>
                  <a:pt x="3698737" y="2203287"/>
                  <a:pt x="3712805" y="2242927"/>
                  <a:pt x="3712777" y="2289319"/>
                </a:cubicBezTo>
                <a:cubicBezTo>
                  <a:pt x="3693169" y="2310331"/>
                  <a:pt x="3722276" y="2389074"/>
                  <a:pt x="3742794" y="2399589"/>
                </a:cubicBezTo>
                <a:cubicBezTo>
                  <a:pt x="3725319" y="2400703"/>
                  <a:pt x="3751962" y="2457534"/>
                  <a:pt x="3753311" y="2472464"/>
                </a:cubicBezTo>
                <a:cubicBezTo>
                  <a:pt x="3753760" y="2477441"/>
                  <a:pt x="3751399" y="2477762"/>
                  <a:pt x="3743656" y="2469811"/>
                </a:cubicBezTo>
                <a:cubicBezTo>
                  <a:pt x="3746474" y="2485608"/>
                  <a:pt x="3738186" y="2502460"/>
                  <a:pt x="3730339" y="2493869"/>
                </a:cubicBezTo>
                <a:cubicBezTo>
                  <a:pt x="3748556" y="2541387"/>
                  <a:pt x="3736267" y="2613433"/>
                  <a:pt x="3746134" y="2667651"/>
                </a:cubicBezTo>
                <a:cubicBezTo>
                  <a:pt x="3730160" y="2698252"/>
                  <a:pt x="3745496" y="2681337"/>
                  <a:pt x="3743743" y="2712354"/>
                </a:cubicBezTo>
                <a:cubicBezTo>
                  <a:pt x="3759373" y="2703131"/>
                  <a:pt x="3736572" y="2750256"/>
                  <a:pt x="3754759" y="2751060"/>
                </a:cubicBezTo>
                <a:cubicBezTo>
                  <a:pt x="3753864" y="2756679"/>
                  <a:pt x="3752424" y="2762098"/>
                  <a:pt x="3750841" y="2767527"/>
                </a:cubicBezTo>
                <a:lnTo>
                  <a:pt x="3750021" y="2770377"/>
                </a:lnTo>
                <a:lnTo>
                  <a:pt x="3749874" y="2781617"/>
                </a:lnTo>
                <a:lnTo>
                  <a:pt x="3745916" y="2784975"/>
                </a:lnTo>
                <a:lnTo>
                  <a:pt x="3742888" y="2802030"/>
                </a:lnTo>
                <a:cubicBezTo>
                  <a:pt x="3742360" y="2808388"/>
                  <a:pt x="3742498" y="2815196"/>
                  <a:pt x="3743710" y="2822667"/>
                </a:cubicBezTo>
                <a:cubicBezTo>
                  <a:pt x="3751787" y="2840797"/>
                  <a:pt x="3744398" y="2870002"/>
                  <a:pt x="3746201" y="2896003"/>
                </a:cubicBezTo>
                <a:lnTo>
                  <a:pt x="3749006" y="2907846"/>
                </a:lnTo>
                <a:lnTo>
                  <a:pt x="3747206" y="2947037"/>
                </a:lnTo>
                <a:cubicBezTo>
                  <a:pt x="3747030" y="2958176"/>
                  <a:pt x="3747214" y="2969719"/>
                  <a:pt x="3748070" y="2981841"/>
                </a:cubicBezTo>
                <a:lnTo>
                  <a:pt x="3750937" y="3004278"/>
                </a:lnTo>
                <a:lnTo>
                  <a:pt x="3749761" y="3010254"/>
                </a:lnTo>
                <a:cubicBezTo>
                  <a:pt x="3750425" y="3020530"/>
                  <a:pt x="3756245" y="3033889"/>
                  <a:pt x="3749923" y="3032983"/>
                </a:cubicBezTo>
                <a:lnTo>
                  <a:pt x="3752658" y="3044429"/>
                </a:lnTo>
                <a:lnTo>
                  <a:pt x="3748217" y="3056076"/>
                </a:lnTo>
                <a:cubicBezTo>
                  <a:pt x="3747117" y="3057381"/>
                  <a:pt x="3745928" y="3058381"/>
                  <a:pt x="3744691" y="3059042"/>
                </a:cubicBezTo>
                <a:lnTo>
                  <a:pt x="3747123" y="3075102"/>
                </a:lnTo>
                <a:lnTo>
                  <a:pt x="3744190" y="3088509"/>
                </a:lnTo>
                <a:lnTo>
                  <a:pt x="3747093" y="3099930"/>
                </a:lnTo>
                <a:lnTo>
                  <a:pt x="3746799" y="3104743"/>
                </a:lnTo>
                <a:lnTo>
                  <a:pt x="3745610" y="3116729"/>
                </a:lnTo>
                <a:cubicBezTo>
                  <a:pt x="3744666" y="3122891"/>
                  <a:pt x="3743503" y="3129792"/>
                  <a:pt x="3742676" y="3137453"/>
                </a:cubicBezTo>
                <a:lnTo>
                  <a:pt x="3742441" y="3143884"/>
                </a:lnTo>
                <a:lnTo>
                  <a:pt x="3737104" y="3158122"/>
                </a:lnTo>
                <a:cubicBezTo>
                  <a:pt x="3733050" y="3168490"/>
                  <a:pt x="3730374" y="3176626"/>
                  <a:pt x="3733275" y="3185367"/>
                </a:cubicBezTo>
                <a:cubicBezTo>
                  <a:pt x="3728135" y="3200760"/>
                  <a:pt x="3712176" y="3212117"/>
                  <a:pt x="3717639" y="3233769"/>
                </a:cubicBezTo>
                <a:cubicBezTo>
                  <a:pt x="3709851" y="3227497"/>
                  <a:pt x="3717920" y="3258095"/>
                  <a:pt x="3710433" y="3262123"/>
                </a:cubicBezTo>
                <a:cubicBezTo>
                  <a:pt x="3704342" y="3264110"/>
                  <a:pt x="3705370" y="3273856"/>
                  <a:pt x="3703458" y="3281408"/>
                </a:cubicBezTo>
                <a:cubicBezTo>
                  <a:pt x="3697412" y="3287020"/>
                  <a:pt x="3693483" y="3324746"/>
                  <a:pt x="3695027" y="3337739"/>
                </a:cubicBezTo>
                <a:cubicBezTo>
                  <a:pt x="3703095" y="3374177"/>
                  <a:pt x="3679154" y="3404974"/>
                  <a:pt x="3684951" y="3434139"/>
                </a:cubicBezTo>
                <a:cubicBezTo>
                  <a:pt x="3684732" y="3441861"/>
                  <a:pt x="3683615" y="3448308"/>
                  <a:pt x="3681946" y="3453928"/>
                </a:cubicBezTo>
                <a:lnTo>
                  <a:pt x="3675939" y="3468021"/>
                </a:lnTo>
                <a:cubicBezTo>
                  <a:pt x="3674480" y="3468264"/>
                  <a:pt x="3673022" y="3468506"/>
                  <a:pt x="3671563" y="3468748"/>
                </a:cubicBezTo>
                <a:lnTo>
                  <a:pt x="3669360" y="3479164"/>
                </a:lnTo>
                <a:lnTo>
                  <a:pt x="3668060" y="3481325"/>
                </a:lnTo>
                <a:cubicBezTo>
                  <a:pt x="3665560" y="3485437"/>
                  <a:pt x="3663197" y="3489622"/>
                  <a:pt x="3661315" y="3494328"/>
                </a:cubicBezTo>
                <a:cubicBezTo>
                  <a:pt x="3678446" y="3506175"/>
                  <a:pt x="3648136" y="3536311"/>
                  <a:pt x="3664679" y="3537226"/>
                </a:cubicBezTo>
                <a:cubicBezTo>
                  <a:pt x="3657322" y="3565147"/>
                  <a:pt x="3674997" y="3558694"/>
                  <a:pt x="3654205" y="3577551"/>
                </a:cubicBezTo>
                <a:cubicBezTo>
                  <a:pt x="3653633" y="3634248"/>
                  <a:pt x="3628736" y="3694092"/>
                  <a:pt x="3637325" y="3749618"/>
                </a:cubicBezTo>
                <a:cubicBezTo>
                  <a:pt x="3631446" y="3736800"/>
                  <a:pt x="3620480" y="3747498"/>
                  <a:pt x="3620258" y="3763981"/>
                </a:cubicBezTo>
                <a:cubicBezTo>
                  <a:pt x="3596667" y="3715365"/>
                  <a:pt x="3630603" y="3842969"/>
                  <a:pt x="3608193" y="3830141"/>
                </a:cubicBezTo>
                <a:cubicBezTo>
                  <a:pt x="3625759" y="3852486"/>
                  <a:pt x="3638965" y="3943841"/>
                  <a:pt x="3616479" y="3951521"/>
                </a:cubicBezTo>
                <a:cubicBezTo>
                  <a:pt x="3607940" y="3994867"/>
                  <a:pt x="3614033" y="4040502"/>
                  <a:pt x="3595498" y="4074157"/>
                </a:cubicBezTo>
                <a:cubicBezTo>
                  <a:pt x="3597477" y="4078342"/>
                  <a:pt x="3598819" y="4082864"/>
                  <a:pt x="3599706" y="4087599"/>
                </a:cubicBezTo>
                <a:lnTo>
                  <a:pt x="3601103" y="4101515"/>
                </a:lnTo>
                <a:lnTo>
                  <a:pt x="3600274" y="4102849"/>
                </a:lnTo>
                <a:cubicBezTo>
                  <a:pt x="3598143" y="4109482"/>
                  <a:pt x="3598077" y="4114144"/>
                  <a:pt x="3598925" y="4117926"/>
                </a:cubicBezTo>
                <a:lnTo>
                  <a:pt x="3600630" y="4121966"/>
                </a:lnTo>
                <a:lnTo>
                  <a:pt x="3600331" y="4132543"/>
                </a:lnTo>
                <a:lnTo>
                  <a:pt x="3601432" y="4154003"/>
                </a:lnTo>
                <a:lnTo>
                  <a:pt x="3600054" y="4157433"/>
                </a:lnTo>
                <a:lnTo>
                  <a:pt x="3599248" y="4188888"/>
                </a:lnTo>
                <a:cubicBezTo>
                  <a:pt x="3598993" y="4188940"/>
                  <a:pt x="3598738" y="4188992"/>
                  <a:pt x="3598484" y="4189044"/>
                </a:cubicBezTo>
                <a:cubicBezTo>
                  <a:pt x="3596754" y="4190111"/>
                  <a:pt x="3595443" y="4192250"/>
                  <a:pt x="3594971" y="4196698"/>
                </a:cubicBezTo>
                <a:cubicBezTo>
                  <a:pt x="3584674" y="4185805"/>
                  <a:pt x="3590455" y="4197885"/>
                  <a:pt x="3589971" y="4211958"/>
                </a:cubicBezTo>
                <a:cubicBezTo>
                  <a:pt x="3573870" y="4198179"/>
                  <a:pt x="3579156" y="4240607"/>
                  <a:pt x="3569135" y="4243705"/>
                </a:cubicBezTo>
                <a:cubicBezTo>
                  <a:pt x="3569142" y="4254351"/>
                  <a:pt x="3568856" y="4265362"/>
                  <a:pt x="3568210" y="4276468"/>
                </a:cubicBezTo>
                <a:lnTo>
                  <a:pt x="3567613" y="4282925"/>
                </a:lnTo>
                <a:cubicBezTo>
                  <a:pt x="3567553" y="4282949"/>
                  <a:pt x="3567492" y="4282974"/>
                  <a:pt x="3567432" y="4282999"/>
                </a:cubicBezTo>
                <a:cubicBezTo>
                  <a:pt x="3566940" y="4284280"/>
                  <a:pt x="3566607" y="4286359"/>
                  <a:pt x="3566464" y="4289697"/>
                </a:cubicBezTo>
                <a:lnTo>
                  <a:pt x="3566526" y="4294698"/>
                </a:lnTo>
                <a:lnTo>
                  <a:pt x="3565367" y="4307225"/>
                </a:lnTo>
                <a:lnTo>
                  <a:pt x="3563841" y="4311164"/>
                </a:lnTo>
                <a:lnTo>
                  <a:pt x="3561610" y="4312189"/>
                </a:lnTo>
                <a:lnTo>
                  <a:pt x="3561734" y="4313408"/>
                </a:lnTo>
                <a:cubicBezTo>
                  <a:pt x="3564537" y="4323096"/>
                  <a:pt x="3569544" y="4327053"/>
                  <a:pt x="3553832" y="4334910"/>
                </a:cubicBezTo>
                <a:cubicBezTo>
                  <a:pt x="3557797" y="4356533"/>
                  <a:pt x="3548502" y="4358433"/>
                  <a:pt x="3542564" y="4385380"/>
                </a:cubicBezTo>
                <a:cubicBezTo>
                  <a:pt x="3547050" y="4398267"/>
                  <a:pt x="3544091" y="4407098"/>
                  <a:pt x="3538724" y="4415150"/>
                </a:cubicBezTo>
                <a:cubicBezTo>
                  <a:pt x="3538633" y="4442707"/>
                  <a:pt x="3529920" y="4465824"/>
                  <a:pt x="3525348" y="4495753"/>
                </a:cubicBezTo>
                <a:cubicBezTo>
                  <a:pt x="3529387" y="4530212"/>
                  <a:pt x="3514579" y="4543935"/>
                  <a:pt x="3509749" y="4575934"/>
                </a:cubicBezTo>
                <a:cubicBezTo>
                  <a:pt x="3519579" y="4606914"/>
                  <a:pt x="3496418" y="4596497"/>
                  <a:pt x="3489779" y="4611927"/>
                </a:cubicBezTo>
                <a:lnTo>
                  <a:pt x="3488856" y="4616508"/>
                </a:lnTo>
                <a:lnTo>
                  <a:pt x="3489486" y="4629163"/>
                </a:lnTo>
                <a:lnTo>
                  <a:pt x="3490242" y="4633947"/>
                </a:lnTo>
                <a:cubicBezTo>
                  <a:pt x="3490570" y="4637233"/>
                  <a:pt x="3490539" y="4639406"/>
                  <a:pt x="3490244" y="4640894"/>
                </a:cubicBezTo>
                <a:lnTo>
                  <a:pt x="3490078" y="4641059"/>
                </a:lnTo>
                <a:lnTo>
                  <a:pt x="3490403" y="4647582"/>
                </a:lnTo>
                <a:cubicBezTo>
                  <a:pt x="3491330" y="4658608"/>
                  <a:pt x="3492590" y="4669354"/>
                  <a:pt x="3494082" y="4679601"/>
                </a:cubicBezTo>
                <a:cubicBezTo>
                  <a:pt x="3484854" y="4687754"/>
                  <a:pt x="3495864" y="4725869"/>
                  <a:pt x="3478421" y="4720918"/>
                </a:cubicBezTo>
                <a:cubicBezTo>
                  <a:pt x="3479918" y="4734712"/>
                  <a:pt x="3487176" y="4743359"/>
                  <a:pt x="3475730" y="4738188"/>
                </a:cubicBezTo>
                <a:cubicBezTo>
                  <a:pt x="3475894" y="4742712"/>
                  <a:pt x="3474928" y="4745450"/>
                  <a:pt x="3473409" y="4747368"/>
                </a:cubicBezTo>
                <a:lnTo>
                  <a:pt x="3472696" y="4747913"/>
                </a:lnTo>
                <a:lnTo>
                  <a:pt x="3476304" y="4778609"/>
                </a:lnTo>
                <a:lnTo>
                  <a:pt x="3475454" y="4782623"/>
                </a:lnTo>
                <a:lnTo>
                  <a:pt x="3479507" y="4802712"/>
                </a:lnTo>
                <a:lnTo>
                  <a:pt x="3480695" y="4813049"/>
                </a:lnTo>
                <a:lnTo>
                  <a:pt x="3482902" y="4816057"/>
                </a:lnTo>
                <a:cubicBezTo>
                  <a:pt x="3484247" y="4819259"/>
                  <a:pt x="3484834" y="4823783"/>
                  <a:pt x="3483703" y="4831270"/>
                </a:cubicBezTo>
                <a:lnTo>
                  <a:pt x="3483090" y="4832984"/>
                </a:lnTo>
                <a:lnTo>
                  <a:pt x="3486378" y="4845654"/>
                </a:lnTo>
                <a:cubicBezTo>
                  <a:pt x="3487893" y="4849755"/>
                  <a:pt x="3489817" y="4853416"/>
                  <a:pt x="3492309" y="4856425"/>
                </a:cubicBezTo>
                <a:cubicBezTo>
                  <a:pt x="3479133" y="4898390"/>
                  <a:pt x="3491371" y="4939174"/>
                  <a:pt x="3489182" y="4985308"/>
                </a:cubicBezTo>
                <a:cubicBezTo>
                  <a:pt x="3492413" y="5037202"/>
                  <a:pt x="3496839" y="5073159"/>
                  <a:pt x="3498182" y="5107346"/>
                </a:cubicBezTo>
                <a:cubicBezTo>
                  <a:pt x="3500266" y="5123329"/>
                  <a:pt x="3506680" y="5240376"/>
                  <a:pt x="3499225" y="5231073"/>
                </a:cubicBezTo>
                <a:cubicBezTo>
                  <a:pt x="3515247" y="5280090"/>
                  <a:pt x="3497607" y="5309911"/>
                  <a:pt x="3504960" y="5364785"/>
                </a:cubicBezTo>
                <a:cubicBezTo>
                  <a:pt x="3487546" y="5393671"/>
                  <a:pt x="3503686" y="5378336"/>
                  <a:pt x="3500486" y="5409009"/>
                </a:cubicBezTo>
                <a:cubicBezTo>
                  <a:pt x="3516561" y="5401350"/>
                  <a:pt x="3491544" y="5446009"/>
                  <a:pt x="3509710" y="5448570"/>
                </a:cubicBezTo>
                <a:cubicBezTo>
                  <a:pt x="3508555" y="5454072"/>
                  <a:pt x="3506859" y="5459319"/>
                  <a:pt x="3505022" y="5464568"/>
                </a:cubicBezTo>
                <a:lnTo>
                  <a:pt x="3504070" y="5467320"/>
                </a:lnTo>
                <a:lnTo>
                  <a:pt x="3503399" y="5478483"/>
                </a:lnTo>
                <a:lnTo>
                  <a:pt x="3499281" y="5481443"/>
                </a:lnTo>
                <a:lnTo>
                  <a:pt x="3499047" y="5616712"/>
                </a:lnTo>
                <a:cubicBezTo>
                  <a:pt x="3502347" y="5628424"/>
                  <a:pt x="3503819" y="5666768"/>
                  <a:pt x="3498775" y="5675291"/>
                </a:cubicBezTo>
                <a:cubicBezTo>
                  <a:pt x="3497984" y="5683547"/>
                  <a:pt x="3500335" y="5692400"/>
                  <a:pt x="3494739" y="5697458"/>
                </a:cubicBezTo>
                <a:cubicBezTo>
                  <a:pt x="3492180" y="5715432"/>
                  <a:pt x="3486290" y="5756597"/>
                  <a:pt x="3483423" y="5783137"/>
                </a:cubicBezTo>
                <a:cubicBezTo>
                  <a:pt x="3491452" y="5796973"/>
                  <a:pt x="3477643" y="5819988"/>
                  <a:pt x="3477532" y="5856699"/>
                </a:cubicBezTo>
                <a:cubicBezTo>
                  <a:pt x="3486776" y="5871818"/>
                  <a:pt x="3477340" y="5881447"/>
                  <a:pt x="3490032" y="5910638"/>
                </a:cubicBezTo>
                <a:cubicBezTo>
                  <a:pt x="3488930" y="5911913"/>
                  <a:pt x="3487924" y="5913488"/>
                  <a:pt x="3487046" y="5915313"/>
                </a:cubicBezTo>
                <a:cubicBezTo>
                  <a:pt x="3481941" y="5925917"/>
                  <a:pt x="3482137" y="5942505"/>
                  <a:pt x="3487484" y="5952365"/>
                </a:cubicBezTo>
                <a:cubicBezTo>
                  <a:pt x="3504666" y="5999029"/>
                  <a:pt x="3505019" y="6042078"/>
                  <a:pt x="3509266" y="6082373"/>
                </a:cubicBezTo>
                <a:cubicBezTo>
                  <a:pt x="3512265" y="6128005"/>
                  <a:pt x="3492950" y="6098121"/>
                  <a:pt x="3509564" y="6154771"/>
                </a:cubicBezTo>
                <a:cubicBezTo>
                  <a:pt x="3503223" y="6161045"/>
                  <a:pt x="3503062" y="6168289"/>
                  <a:pt x="3506404" y="6180433"/>
                </a:cubicBezTo>
                <a:cubicBezTo>
                  <a:pt x="3507378" y="6202614"/>
                  <a:pt x="3491084" y="6201180"/>
                  <a:pt x="3501312" y="6223427"/>
                </a:cubicBezTo>
                <a:cubicBezTo>
                  <a:pt x="3492497" y="6219559"/>
                  <a:pt x="3498753" y="6265580"/>
                  <a:pt x="3489469" y="6255476"/>
                </a:cubicBezTo>
                <a:cubicBezTo>
                  <a:pt x="3481791" y="6270065"/>
                  <a:pt x="3495037" y="6276996"/>
                  <a:pt x="3488398" y="6291462"/>
                </a:cubicBezTo>
                <a:cubicBezTo>
                  <a:pt x="3487099" y="6307679"/>
                  <a:pt x="3497555" y="6282019"/>
                  <a:pt x="3498547" y="6299935"/>
                </a:cubicBezTo>
                <a:cubicBezTo>
                  <a:pt x="3498173" y="6321676"/>
                  <a:pt x="3514193" y="6321381"/>
                  <a:pt x="3494028" y="6338390"/>
                </a:cubicBezTo>
                <a:lnTo>
                  <a:pt x="3486030" y="6396716"/>
                </a:lnTo>
                <a:cubicBezTo>
                  <a:pt x="3491309" y="6409668"/>
                  <a:pt x="3488928" y="6420134"/>
                  <a:pt x="3484103" y="6430386"/>
                </a:cubicBezTo>
                <a:cubicBezTo>
                  <a:pt x="3485763" y="6460632"/>
                  <a:pt x="3478568" y="6488285"/>
                  <a:pt x="3475922" y="6522318"/>
                </a:cubicBezTo>
                <a:cubicBezTo>
                  <a:pt x="3482128" y="6559051"/>
                  <a:pt x="3468277" y="6578006"/>
                  <a:pt x="3465506" y="6614374"/>
                </a:cubicBezTo>
                <a:cubicBezTo>
                  <a:pt x="3478925" y="6650248"/>
                  <a:pt x="3446064" y="6638174"/>
                  <a:pt x="3446789" y="6668768"/>
                </a:cubicBezTo>
                <a:cubicBezTo>
                  <a:pt x="3458869" y="6718505"/>
                  <a:pt x="3435878" y="6667592"/>
                  <a:pt x="3439582" y="6744454"/>
                </a:cubicBezTo>
                <a:cubicBezTo>
                  <a:pt x="3441631" y="6748797"/>
                  <a:pt x="3439393" y="6758101"/>
                  <a:pt x="3436538" y="6757102"/>
                </a:cubicBezTo>
                <a:cubicBezTo>
                  <a:pt x="3437461" y="6773941"/>
                  <a:pt x="3420846" y="6822488"/>
                  <a:pt x="3424061" y="6846522"/>
                </a:cubicBezTo>
                <a:lnTo>
                  <a:pt x="34230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A13B042-239A-01A8-D921-10D0BB9B0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4756" y="755312"/>
            <a:ext cx="8437223" cy="61026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accent3"/>
                </a:solidFill>
              </a:rPr>
              <a:t>DeepSeek</a:t>
            </a:r>
            <a:r>
              <a:rPr lang="en-US" sz="2000" b="1" dirty="0">
                <a:solidFill>
                  <a:schemeClr val="accent3"/>
                </a:solidFill>
              </a:rPr>
              <a:t> is an </a:t>
            </a:r>
            <a:r>
              <a:rPr lang="en-US" sz="2000" b="1" dirty="0">
                <a:solidFill>
                  <a:schemeClr val="accent3"/>
                </a:solidFill>
                <a:hlinkClick r:id="rId3" tooltip="Artificial intellige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artificial intelligence</a:t>
            </a:r>
            <a:r>
              <a:rPr lang="en-US" sz="2000" b="1" dirty="0">
                <a:solidFill>
                  <a:schemeClr val="accent3"/>
                </a:solidFill>
              </a:rPr>
              <a:t> company that develops </a:t>
            </a:r>
            <a:r>
              <a:rPr lang="en-US" sz="2000" b="1" dirty="0">
                <a:solidFill>
                  <a:schemeClr val="accent3"/>
                </a:solidFill>
                <a:hlinkClick r:id="rId4" tooltip="Open-sour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open-source</a:t>
            </a:r>
            <a:r>
              <a:rPr lang="en-US" sz="2000" b="1" dirty="0">
                <a:solidFill>
                  <a:schemeClr val="accent3"/>
                </a:solidFill>
              </a:rPr>
              <a:t> </a:t>
            </a:r>
            <a:r>
              <a:rPr lang="en-US" sz="2000" b="1" dirty="0">
                <a:solidFill>
                  <a:schemeClr val="accent3"/>
                </a:solidFill>
                <a:hlinkClick r:id="rId5" tooltip="Large language mode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large language models</a:t>
            </a:r>
            <a:r>
              <a:rPr lang="en-US" sz="2000" b="1" dirty="0">
                <a:solidFill>
                  <a:schemeClr val="accent3"/>
                </a:solidFill>
              </a:rPr>
              <a:t> founded in 2023.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accent3"/>
                </a:solidFill>
              </a:rPr>
              <a:t>Deepseek</a:t>
            </a:r>
            <a:r>
              <a:rPr lang="en-US" sz="2000" b="1" dirty="0">
                <a:solidFill>
                  <a:schemeClr val="accent3"/>
                </a:solidFill>
              </a:rPr>
              <a:t> is the part of High-Flyer’s AI research unit. High-Flyer created </a:t>
            </a:r>
            <a:r>
              <a:rPr lang="en-US" sz="2000" b="1" dirty="0" err="1">
                <a:solidFill>
                  <a:schemeClr val="accent3"/>
                </a:solidFill>
              </a:rPr>
              <a:t>DeepSeek</a:t>
            </a:r>
            <a:r>
              <a:rPr lang="en-US" sz="2000" b="1" dirty="0">
                <a:solidFill>
                  <a:schemeClr val="accent3"/>
                </a:solidFill>
              </a:rPr>
              <a:t> in 2023 to focus on artificial general intelligence (AGI)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accent3"/>
                </a:solidFill>
              </a:rPr>
              <a:t>Deepseek</a:t>
            </a:r>
            <a:r>
              <a:rPr lang="en-US" sz="2000" b="1" dirty="0">
                <a:solidFill>
                  <a:schemeClr val="accent3"/>
                </a:solidFill>
              </a:rPr>
              <a:t> Implement Reinforcement learning technique which more focus to developing </a:t>
            </a:r>
            <a:r>
              <a:rPr lang="en-US" sz="2000" b="1" dirty="0" err="1">
                <a:solidFill>
                  <a:schemeClr val="accent3"/>
                </a:solidFill>
              </a:rPr>
              <a:t>llms</a:t>
            </a:r>
            <a:r>
              <a:rPr lang="en-US" sz="2000" b="1" dirty="0">
                <a:solidFill>
                  <a:schemeClr val="accent3"/>
                </a:solidFill>
              </a:rPr>
              <a:t> that achieve AGI(Artificial General Intelligence).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/>
                </a:solidFill>
                <a:effectLst/>
              </a:rPr>
              <a:t>Chipmaker company Nvidia lost nearly $600 billion in market value after introduce </a:t>
            </a:r>
            <a:r>
              <a:rPr lang="en-US" sz="2000" b="1" dirty="0" err="1">
                <a:solidFill>
                  <a:schemeClr val="accent3"/>
                </a:solidFill>
                <a:effectLst/>
              </a:rPr>
              <a:t>deepseek</a:t>
            </a:r>
            <a:r>
              <a:rPr lang="en-US" sz="2000" b="1" dirty="0">
                <a:solidFill>
                  <a:schemeClr val="accent3"/>
                </a:solidFill>
                <a:effectLst/>
              </a:rPr>
              <a:t>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accent3"/>
                </a:solidFill>
                <a:effectLst/>
              </a:rPr>
              <a:t>Deepseek</a:t>
            </a:r>
            <a:r>
              <a:rPr lang="en-US" sz="2000" b="1" dirty="0">
                <a:solidFill>
                  <a:schemeClr val="accent3"/>
                </a:solidFill>
              </a:rPr>
              <a:t> </a:t>
            </a:r>
            <a:r>
              <a:rPr lang="en-US" sz="2000" b="1" dirty="0">
                <a:solidFill>
                  <a:schemeClr val="accent3"/>
                </a:solidFill>
                <a:effectLst/>
              </a:rPr>
              <a:t>will more impactable on Trading ,stock market &amp; other financial market.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IN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Deepseek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 work similar like </a:t>
            </a:r>
            <a:r>
              <a:rPr lang="en-IN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chatgpt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IN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Chatgpt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 paid application but </a:t>
            </a:r>
            <a:r>
              <a:rPr lang="en-IN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deepseek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 opensource.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/>
                </a:solidFill>
                <a:effectLst/>
              </a:rPr>
              <a:t>Refer the Below page link to more about founder </a:t>
            </a:r>
            <a:r>
              <a:rPr lang="en-US" sz="2000" b="1" dirty="0">
                <a:solidFill>
                  <a:schemeClr val="accent3"/>
                </a:solidFill>
                <a:effectLst/>
                <a:sym typeface="Wingdings" panose="05000000000000000000" pitchFamily="2" charset="2"/>
              </a:rPr>
              <a:t>  </a:t>
            </a:r>
          </a:p>
          <a:p>
            <a:pPr marL="114300" algn="l"/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effectLst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https://www.upexciseportal.in/who-is-liang-wenfeng-deepseek/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marL="114300" algn="l"/>
            <a:endParaRPr lang="en-US" sz="2000" b="1" dirty="0">
              <a:solidFill>
                <a:schemeClr val="accent3"/>
              </a:solidFill>
              <a:effectLst/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accent3"/>
              </a:solidFill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accent3"/>
              </a:solidFill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accent3"/>
              </a:solidFill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accent3"/>
              </a:solidFill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148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29168B-C89D-713B-B1EF-FEEEA3CE5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94271"/>
            <a:ext cx="3668088" cy="1494503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DEEP SEEK MODEL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755F2-3A23-E829-E3E3-A09F7D74A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7826" y="98323"/>
            <a:ext cx="8151125" cy="66564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800" b="1" dirty="0" err="1">
                <a:solidFill>
                  <a:srgbClr val="002060"/>
                </a:solidFill>
                <a:highlight>
                  <a:srgbClr val="00FF00"/>
                </a:highlight>
              </a:rPr>
              <a:t>DeepSeek</a:t>
            </a:r>
            <a:r>
              <a:rPr lang="en-US" sz="2800" b="1" dirty="0">
                <a:solidFill>
                  <a:srgbClr val="002060"/>
                </a:solidFill>
                <a:highlight>
                  <a:srgbClr val="00FF00"/>
                </a:highlight>
              </a:rPr>
              <a:t> V2 </a:t>
            </a:r>
            <a:r>
              <a:rPr lang="en-US" sz="2800" b="1" dirty="0">
                <a:solidFill>
                  <a:srgbClr val="00206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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dirty="0">
                <a:hlinkClick r:id="rId2"/>
              </a:rPr>
              <a:t>https://github.com/deepseek-ai/DeepSeek-V2</a:t>
            </a:r>
            <a:endParaRPr lang="en-US" b="1" dirty="0"/>
          </a:p>
          <a:p>
            <a:pPr algn="l"/>
            <a:r>
              <a:rPr lang="en-US" sz="2800" b="1" dirty="0" err="1">
                <a:solidFill>
                  <a:srgbClr val="002060"/>
                </a:solidFill>
                <a:highlight>
                  <a:srgbClr val="00FF00"/>
                </a:highlight>
              </a:rPr>
              <a:t>DeepSeek</a:t>
            </a:r>
            <a:r>
              <a:rPr lang="en-US" sz="2800" b="1" dirty="0">
                <a:solidFill>
                  <a:srgbClr val="002060"/>
                </a:solidFill>
                <a:highlight>
                  <a:srgbClr val="00FF00"/>
                </a:highlight>
              </a:rPr>
              <a:t> V3 </a:t>
            </a:r>
            <a:r>
              <a:rPr lang="en-US" sz="2800" b="1" dirty="0">
                <a:solidFill>
                  <a:srgbClr val="00206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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hlinkClick r:id="rId3"/>
              </a:rPr>
              <a:t>https://github.com/deepseek-ai/DeepSeek-V3</a:t>
            </a:r>
            <a:endParaRPr lang="en-US" sz="2000" b="1" dirty="0"/>
          </a:p>
          <a:p>
            <a:pPr algn="l"/>
            <a:r>
              <a:rPr lang="en-US" sz="2800" b="1" dirty="0" err="1">
                <a:solidFill>
                  <a:srgbClr val="002060"/>
                </a:solidFill>
                <a:highlight>
                  <a:srgbClr val="00FF00"/>
                </a:highlight>
              </a:rPr>
              <a:t>DeepSeek</a:t>
            </a:r>
            <a:r>
              <a:rPr lang="en-US" sz="2800" b="1" dirty="0">
                <a:solidFill>
                  <a:srgbClr val="002060"/>
                </a:solidFill>
                <a:highlight>
                  <a:srgbClr val="00FF00"/>
                </a:highlight>
              </a:rPr>
              <a:t> VL2 </a:t>
            </a:r>
            <a:r>
              <a:rPr lang="en-US" sz="2800" b="1" dirty="0">
                <a:solidFill>
                  <a:srgbClr val="00206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00206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(</a:t>
            </a:r>
            <a:r>
              <a:rPr lang="en-US" b="1" dirty="0" err="1">
                <a:solidFill>
                  <a:srgbClr val="00206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Deepseek</a:t>
            </a:r>
            <a:r>
              <a:rPr lang="en-US" b="1" dirty="0">
                <a:solidFill>
                  <a:srgbClr val="00206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 Vision-Language Model)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sym typeface="Wingdings" panose="05000000000000000000" pitchFamily="2" charset="2"/>
                <a:hlinkClick r:id="rId4"/>
              </a:rPr>
              <a:t>https://github.com/deepseek-ai/DeepSeek-VL2</a:t>
            </a:r>
            <a:endParaRPr lang="en-US" sz="2000" b="1" dirty="0">
              <a:sym typeface="Wingdings" panose="05000000000000000000" pitchFamily="2" charset="2"/>
            </a:endParaRPr>
          </a:p>
          <a:p>
            <a:pPr algn="l"/>
            <a:r>
              <a:rPr lang="en-US" sz="2800" b="1" dirty="0" err="1">
                <a:solidFill>
                  <a:srgbClr val="002060"/>
                </a:solidFill>
                <a:highlight>
                  <a:srgbClr val="00FF00"/>
                </a:highlight>
              </a:rPr>
              <a:t>DeepSeek</a:t>
            </a:r>
            <a:r>
              <a:rPr lang="en-US" sz="2800" b="1" dirty="0">
                <a:solidFill>
                  <a:srgbClr val="002060"/>
                </a:solidFill>
                <a:highlight>
                  <a:srgbClr val="00FF00"/>
                </a:highlight>
              </a:rPr>
              <a:t> R1 </a:t>
            </a:r>
            <a:r>
              <a:rPr lang="en-US" sz="2800" b="1" dirty="0">
                <a:solidFill>
                  <a:srgbClr val="00206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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u="sng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https://github.com/deepseek-ai/DeepSeek-R1</a:t>
            </a:r>
          </a:p>
          <a:p>
            <a:pPr algn="l"/>
            <a:endParaRPr lang="en-US" sz="2000" b="1" u="sng" dirty="0"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r>
              <a:rPr lang="en-US" sz="2000" b="1" u="sng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DeepSeek's</a:t>
            </a:r>
            <a:r>
              <a:rPr lang="en-US" sz="2000" b="1" u="sng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flagship reasoning model</a:t>
            </a:r>
            <a:r>
              <a:rPr lang="en-US" sz="2000" b="1" u="sng" dirty="0"/>
              <a:t>, </a:t>
            </a:r>
            <a:r>
              <a:rPr lang="en-US" sz="2000" b="1" dirty="0"/>
              <a:t>which performs  on several math, coding, and reasoning benchmarks </a:t>
            </a:r>
            <a:r>
              <a:rPr lang="en-US" sz="2000" b="1" dirty="0">
                <a:effectLst/>
              </a:rPr>
              <a:t>which built on V3,  </a:t>
            </a:r>
            <a:r>
              <a:rPr lang="en-US" sz="2000" b="1" dirty="0"/>
              <a:t>Alibaba's </a:t>
            </a:r>
            <a:r>
              <a:rPr lang="en-US" sz="2000" b="1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Qwen</a:t>
            </a:r>
            <a:r>
              <a:rPr lang="en-US" sz="2000" b="1" dirty="0"/>
              <a:t> model and Meta's </a:t>
            </a:r>
            <a:r>
              <a:rPr lang="en-US" sz="2000" b="1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Llama</a:t>
            </a:r>
            <a:r>
              <a:rPr lang="en-US" sz="2000" b="1" dirty="0"/>
              <a:t> model.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82248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6F1FD3-23A7-B54A-5A66-9694302B93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667" r="9090" b="-1"/>
          <a:stretch/>
        </p:blipFill>
        <p:spPr>
          <a:xfrm>
            <a:off x="7138221" y="-9154"/>
            <a:ext cx="5053779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D14295-A064-0CC3-62EB-D9D27BAD0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71" y="1"/>
            <a:ext cx="5715000" cy="14260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highlight>
                  <a:srgbClr val="808000"/>
                </a:highlight>
              </a:rPr>
              <a:t>Project:1 </a:t>
            </a:r>
            <a:r>
              <a:rPr lang="en-US" sz="4000" dirty="0">
                <a:solidFill>
                  <a:schemeClr val="bg1"/>
                </a:solidFill>
                <a:highlight>
                  <a:srgbClr val="808000"/>
                </a:highlight>
                <a:sym typeface="Wingdings" panose="05000000000000000000" pitchFamily="2" charset="2"/>
              </a:rPr>
              <a:t> </a:t>
            </a:r>
            <a:r>
              <a:rPr lang="en-US" sz="4000" dirty="0">
                <a:solidFill>
                  <a:schemeClr val="bg1"/>
                </a:solidFill>
                <a:highlight>
                  <a:srgbClr val="808000"/>
                </a:highlight>
              </a:rPr>
              <a:t>DeepSeek-R1 Bot Using </a:t>
            </a:r>
            <a:r>
              <a:rPr lang="en-US" sz="4000" dirty="0" err="1">
                <a:solidFill>
                  <a:schemeClr val="bg1"/>
                </a:solidFill>
                <a:highlight>
                  <a:srgbClr val="808000"/>
                </a:highlight>
              </a:rPr>
              <a:t>Ollama</a:t>
            </a:r>
            <a:endParaRPr lang="en-US" sz="4000" dirty="0">
              <a:solidFill>
                <a:schemeClr val="bg1"/>
              </a:solidFill>
              <a:highlight>
                <a:srgbClr val="808000"/>
              </a:highlight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E1897-1AC3-4D46-EB89-9D2FE8CA7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43666"/>
            <a:ext cx="7600335" cy="518370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Software Tool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bg1"/>
                </a:solidFill>
              </a:rPr>
              <a:t> Vs Code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Programming Language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Python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Frontend UI  </a:t>
            </a:r>
            <a:r>
              <a:rPr lang="en-US" dirty="0" err="1">
                <a:solidFill>
                  <a:schemeClr val="bg1"/>
                </a:solidFill>
                <a:sym typeface="Wingdings" panose="05000000000000000000" pitchFamily="2" charset="2"/>
              </a:rPr>
              <a:t>Streamlit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Frame </a:t>
            </a:r>
            <a:r>
              <a:rPr lang="en-US" dirty="0" err="1">
                <a:solidFill>
                  <a:schemeClr val="bg1"/>
                </a:solidFill>
                <a:sym typeface="Wingdings" panose="05000000000000000000" pitchFamily="2" charset="2"/>
              </a:rPr>
              <a:t>Workd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  LANGCHAIN </a:t>
            </a:r>
            <a:endParaRPr lang="en-US" dirty="0">
              <a:solidFill>
                <a:schemeClr val="bg1"/>
              </a:solidFill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Steps to build </a:t>
            </a:r>
            <a:r>
              <a:rPr lang="en-US" dirty="0" err="1">
                <a:solidFill>
                  <a:schemeClr val="bg1"/>
                </a:solidFill>
              </a:rPr>
              <a:t>Deepseek</a:t>
            </a:r>
            <a:r>
              <a:rPr lang="en-US" dirty="0">
                <a:solidFill>
                  <a:schemeClr val="bg1"/>
                </a:solidFill>
              </a:rPr>
              <a:t> Bot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</a:p>
          <a:p>
            <a:pPr algn="l"/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Download </a:t>
            </a:r>
            <a:r>
              <a:rPr lang="en-US" dirty="0" err="1">
                <a:solidFill>
                  <a:schemeClr val="bg1"/>
                </a:solidFill>
                <a:sym typeface="Wingdings" panose="05000000000000000000" pitchFamily="2" charset="2"/>
              </a:rPr>
              <a:t>Deepseek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 :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  <a:hlinkClick r:id="rId3"/>
              </a:rPr>
              <a:t>https://ollama.com/</a:t>
            </a:r>
            <a:endParaRPr lang="en-US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algn="l"/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Verify installation : </a:t>
            </a:r>
            <a:r>
              <a:rPr lang="en-US" dirty="0" err="1">
                <a:solidFill>
                  <a:schemeClr val="bg1"/>
                </a:solidFill>
                <a:sym typeface="Wingdings" panose="05000000000000000000" pitchFamily="2" charset="2"/>
              </a:rPr>
              <a:t>ollama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 version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Check if DeepSeek-R1 is Available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 : </a:t>
            </a:r>
            <a:r>
              <a:rPr lang="en-US" dirty="0" err="1">
                <a:solidFill>
                  <a:schemeClr val="bg1"/>
                </a:solidFill>
              </a:rPr>
              <a:t>ollama</a:t>
            </a:r>
            <a:r>
              <a:rPr lang="en-US" dirty="0">
                <a:solidFill>
                  <a:schemeClr val="bg1"/>
                </a:solidFill>
              </a:rPr>
              <a:t> models list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Pull the DeepSeek-R1 Model: </a:t>
            </a:r>
            <a:r>
              <a:rPr lang="en-US" dirty="0" err="1">
                <a:solidFill>
                  <a:schemeClr val="bg1"/>
                </a:solidFill>
              </a:rPr>
              <a:t>ollama</a:t>
            </a:r>
            <a:r>
              <a:rPr lang="en-US" dirty="0">
                <a:solidFill>
                  <a:schemeClr val="bg1"/>
                </a:solidFill>
              </a:rPr>
              <a:t> pull deepseek-r1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Test the prompt by writing sample query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Lets code together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806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8EE666A-58E7-81AD-9CE9-6E358472E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445294"/>
            <a:ext cx="5107366" cy="208742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highlight>
                  <a:srgbClr val="808000"/>
                </a:highlight>
                <a:sym typeface="Wingdings" panose="05000000000000000000" pitchFamily="2" charset="2"/>
              </a:rPr>
              <a:t>Project:2 </a:t>
            </a:r>
            <a:r>
              <a:rPr lang="en-US" sz="4400" dirty="0" err="1">
                <a:solidFill>
                  <a:schemeClr val="bg1"/>
                </a:solidFill>
                <a:highlight>
                  <a:srgbClr val="808000"/>
                </a:highlight>
                <a:sym typeface="Wingdings" panose="05000000000000000000" pitchFamily="2" charset="2"/>
              </a:rPr>
              <a:t>DeepSeek</a:t>
            </a:r>
            <a:r>
              <a:rPr lang="en-US" sz="4400" dirty="0">
                <a:solidFill>
                  <a:schemeClr val="bg1"/>
                </a:solidFill>
                <a:highlight>
                  <a:srgbClr val="808000"/>
                </a:highlight>
                <a:sym typeface="Wingdings" panose="05000000000000000000" pitchFamily="2" charset="2"/>
              </a:rPr>
              <a:t> Integration using </a:t>
            </a:r>
            <a:r>
              <a:rPr lang="en-US" sz="4400" dirty="0" err="1">
                <a:solidFill>
                  <a:schemeClr val="bg1"/>
                </a:solidFill>
                <a:highlight>
                  <a:srgbClr val="808000"/>
                </a:highlight>
              </a:rPr>
              <a:t>OpenRouter</a:t>
            </a:r>
            <a:endParaRPr lang="en-US" sz="4400" dirty="0">
              <a:solidFill>
                <a:schemeClr val="bg1"/>
              </a:solidFill>
              <a:highlight>
                <a:srgbClr val="8080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BC6B2-289E-2B23-EF1E-7C9F4F61E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0367" y="4038036"/>
            <a:ext cx="6725636" cy="2690869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Software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Google </a:t>
            </a:r>
            <a:r>
              <a:rPr lang="en-US" dirty="0" err="1">
                <a:solidFill>
                  <a:schemeClr val="bg1"/>
                </a:solidFill>
                <a:sym typeface="Wingdings" panose="05000000000000000000" pitchFamily="2" charset="2"/>
              </a:rPr>
              <a:t>Colab</a:t>
            </a:r>
            <a:endParaRPr lang="en-US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sym typeface="Wingdings" panose="05000000000000000000" pitchFamily="2" charset="2"/>
              </a:rPr>
              <a:t>Signin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  to openrouter.ai  	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https://openrouter.ai/</a:t>
            </a:r>
            <a:endParaRPr lang="en-US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Search with  </a:t>
            </a:r>
            <a:r>
              <a:rPr lang="en-US" dirty="0" err="1">
                <a:solidFill>
                  <a:schemeClr val="bg1"/>
                </a:solidFill>
                <a:sym typeface="Wingdings" panose="05000000000000000000" pitchFamily="2" charset="2"/>
              </a:rPr>
              <a:t>deepseek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: R1 (free)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Create Api KEY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Refer to </a:t>
            </a:r>
            <a:r>
              <a:rPr lang="en-US" dirty="0" err="1">
                <a:solidFill>
                  <a:schemeClr val="bg1"/>
                </a:solidFill>
                <a:sym typeface="Wingdings" panose="05000000000000000000" pitchFamily="2" charset="2"/>
              </a:rPr>
              <a:t>OpenAi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-python code Documentation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6E56DF-8493-1AD2-DA04-369DA03DAF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19123"/>
          <a:stretch/>
        </p:blipFill>
        <p:spPr>
          <a:xfrm>
            <a:off x="841476" y="129094"/>
            <a:ext cx="10933730" cy="3750268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67953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5224C-ED5F-A1B4-AA14-C6A5D5045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4457" y="345750"/>
            <a:ext cx="7794876" cy="5387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2800" b="1" kern="1200" cap="all" dirty="0">
                <a:solidFill>
                  <a:schemeClr val="bg1"/>
                </a:solidFill>
                <a:highlight>
                  <a:srgbClr val="FF0000"/>
                </a:highlight>
                <a:latin typeface="+mj-lt"/>
                <a:ea typeface="+mj-ea"/>
                <a:cs typeface="+mj-cs"/>
              </a:rPr>
              <a:t>GENERATIVE AI PREVIOUS RECORDING SESSION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48BF7A18-6B5E-FDB0-8EF5-26D972A03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114" y="999650"/>
            <a:ext cx="11451772" cy="5743145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/>
              </a:rPr>
              <a:t>1- ChatGPT Tutorial for Developers | Introduction to ChatGPT </a:t>
            </a:r>
            <a:r>
              <a:rPr lang="en-US" sz="1600" b="1" dirty="0">
                <a:solidFill>
                  <a:schemeClr val="bg1"/>
                </a:solidFill>
                <a:effectLst/>
                <a:sym typeface="Wingdings" panose="05000000000000000000" pitchFamily="2" charset="2"/>
              </a:rPr>
              <a:t></a:t>
            </a:r>
            <a:r>
              <a:rPr lang="en-US" sz="1600" b="1" dirty="0">
                <a:solidFill>
                  <a:schemeClr val="bg1"/>
                </a:solidFill>
                <a:effectLst/>
              </a:rPr>
              <a:t> 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youtube.com/</a:t>
            </a:r>
            <a:r>
              <a:rPr lang="en-US" sz="1600" b="1" u="sng" dirty="0" err="1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watch?v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=SDStCnlITT8</a:t>
            </a:r>
            <a:endParaRPr lang="en-US" sz="1600" u="sng" dirty="0">
              <a:solidFill>
                <a:schemeClr val="bg1"/>
              </a:solidFill>
              <a:effectLst/>
              <a:highlight>
                <a:srgbClr val="808000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/>
              </a:rPr>
              <a:t>2- Generative AI Workshop </a:t>
            </a:r>
            <a:r>
              <a:rPr lang="en-US" sz="1600" b="1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youtube.com/</a:t>
            </a:r>
            <a:r>
              <a:rPr lang="en-US" sz="1600" b="1" u="sng" dirty="0" err="1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watch?v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=Xp1MnygECUs</a:t>
            </a:r>
            <a:endParaRPr lang="en-US" sz="1600" u="sng" dirty="0">
              <a:solidFill>
                <a:schemeClr val="bg1"/>
              </a:solidFill>
              <a:effectLst/>
              <a:highlight>
                <a:srgbClr val="808000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/>
              </a:rPr>
              <a:t>3- LARGE LANGUAGE MODEL </a:t>
            </a:r>
            <a:r>
              <a:rPr lang="en-US" sz="1600" b="1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youtube.com/</a:t>
            </a:r>
            <a:r>
              <a:rPr lang="en-US" sz="1600" b="1" u="sng" dirty="0" err="1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watch?v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=v0w9LXXrsys</a:t>
            </a:r>
            <a:endParaRPr lang="en-US" sz="1600" u="sng" dirty="0">
              <a:solidFill>
                <a:schemeClr val="bg1"/>
              </a:solidFill>
              <a:effectLst/>
              <a:highlight>
                <a:srgbClr val="808000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/>
              </a:rPr>
              <a:t>4- COMPLETE DATA SCIENCE LIBRARY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youtube.com/</a:t>
            </a:r>
            <a:r>
              <a:rPr lang="en-US" sz="1600" b="1" u="sng" dirty="0" err="1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watch?v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=MsFhUjFL4vE&amp;t=209s</a:t>
            </a:r>
            <a:endParaRPr lang="en-US" sz="1600" u="sng" dirty="0">
              <a:solidFill>
                <a:schemeClr val="bg1"/>
              </a:solidFill>
              <a:effectLst/>
              <a:highlight>
                <a:srgbClr val="808000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/>
              </a:rPr>
              <a:t>5- Know About Data Science &amp; Generative AI</a:t>
            </a:r>
            <a:r>
              <a:rPr lang="en-US" sz="1600" b="1" dirty="0">
                <a:solidFill>
                  <a:schemeClr val="bg1"/>
                </a:solidFill>
                <a:effectLst/>
                <a:sym typeface="Wingdings" panose="05000000000000000000" pitchFamily="2" charset="2"/>
              </a:rPr>
              <a:t></a:t>
            </a:r>
            <a:r>
              <a:rPr lang="en-US" sz="1600" b="1" dirty="0">
                <a:solidFill>
                  <a:schemeClr val="bg1"/>
                </a:solidFill>
                <a:effectLst/>
              </a:rPr>
              <a:t> 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youtube.com/</a:t>
            </a:r>
            <a:r>
              <a:rPr lang="en-US" sz="1600" b="1" u="sng" dirty="0" err="1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watch?v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=TR_OCx5z-m8</a:t>
            </a:r>
            <a:endParaRPr lang="en-US" sz="1600" u="sng" dirty="0">
              <a:solidFill>
                <a:schemeClr val="bg1"/>
              </a:solidFill>
              <a:effectLst/>
              <a:highlight>
                <a:srgbClr val="808000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/>
              </a:rPr>
              <a:t>6- Generative AI with </a:t>
            </a:r>
            <a:r>
              <a:rPr lang="en-US" sz="1600" b="1" dirty="0" err="1">
                <a:solidFill>
                  <a:schemeClr val="bg1"/>
                </a:solidFill>
                <a:effectLst/>
              </a:rPr>
              <a:t>Langchain</a:t>
            </a:r>
            <a:r>
              <a:rPr lang="en-US" sz="1600" b="1" dirty="0">
                <a:solidFill>
                  <a:schemeClr val="bg1"/>
                </a:solidFill>
                <a:effectLst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effectLst/>
              </a:rPr>
              <a:t>Langsmith</a:t>
            </a:r>
            <a:r>
              <a:rPr lang="en-US" sz="1600" b="1" dirty="0">
                <a:solidFill>
                  <a:schemeClr val="bg1"/>
                </a:solidFill>
                <a:effectLst/>
              </a:rPr>
              <a:t>, OpenAI &amp; </a:t>
            </a:r>
            <a:r>
              <a:rPr lang="en-US" sz="1600" b="1" dirty="0" err="1">
                <a:solidFill>
                  <a:schemeClr val="bg1"/>
                </a:solidFill>
                <a:effectLst/>
              </a:rPr>
              <a:t>LLMops</a:t>
            </a:r>
            <a:r>
              <a:rPr lang="en-US" sz="1600" b="1" dirty="0">
                <a:solidFill>
                  <a:schemeClr val="bg1"/>
                </a:solidFill>
                <a:effectLst/>
              </a:rPr>
              <a:t> </a:t>
            </a:r>
            <a:r>
              <a:rPr lang="en-US" sz="1600" b="1" dirty="0">
                <a:solidFill>
                  <a:schemeClr val="bg1"/>
                </a:solidFill>
                <a:effectLst/>
                <a:sym typeface="Wingdings" panose="05000000000000000000" pitchFamily="2" charset="2"/>
              </a:rPr>
              <a:t></a:t>
            </a:r>
            <a:r>
              <a:rPr lang="en-US" sz="1600" b="1" dirty="0">
                <a:solidFill>
                  <a:schemeClr val="bg1"/>
                </a:solidFill>
                <a:effectLst/>
              </a:rPr>
              <a:t>	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youtube.com/</a:t>
            </a:r>
            <a:r>
              <a:rPr lang="en-US" sz="1600" b="1" u="sng" dirty="0" err="1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watch?v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=</a:t>
            </a:r>
            <a:r>
              <a:rPr lang="en-US" sz="1600" b="1" u="sng" dirty="0" err="1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MAkXifYHnuw&amp;t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=1320s</a:t>
            </a:r>
            <a:endParaRPr lang="en-US" sz="1600" u="sng" dirty="0">
              <a:solidFill>
                <a:schemeClr val="bg1"/>
              </a:solidFill>
              <a:effectLst/>
              <a:highlight>
                <a:srgbClr val="808000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/>
              </a:rPr>
              <a:t>7- Google Generative AI | Gemini AI</a:t>
            </a:r>
            <a:r>
              <a:rPr lang="en-US" sz="1600" b="1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youtube.com/</a:t>
            </a:r>
            <a:r>
              <a:rPr lang="en-US" sz="1600" b="1" u="sng" dirty="0" err="1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watch?v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=BDrXdvNh19Q&amp;t=5684s</a:t>
            </a:r>
            <a:endParaRPr lang="en-US" sz="1600" u="sng" dirty="0">
              <a:solidFill>
                <a:schemeClr val="bg1"/>
              </a:solidFill>
              <a:effectLst/>
              <a:highlight>
                <a:srgbClr val="808000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/>
              </a:rPr>
              <a:t>8- Gen AI for Build LLM Model Using Lama 3,Hugging Face &amp; </a:t>
            </a:r>
            <a:r>
              <a:rPr lang="en-US" sz="1600" b="1" dirty="0" err="1">
                <a:solidFill>
                  <a:schemeClr val="bg1"/>
                </a:solidFill>
                <a:effectLst/>
              </a:rPr>
              <a:t>Ollama</a:t>
            </a:r>
            <a:r>
              <a:rPr lang="en-US" sz="1600" b="1" dirty="0">
                <a:solidFill>
                  <a:schemeClr val="bg1"/>
                </a:solidFill>
                <a:effectLst/>
              </a:rPr>
              <a:t> : 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youtube.com/</a:t>
            </a:r>
            <a:r>
              <a:rPr lang="en-US" sz="1600" b="1" u="sng" dirty="0" err="1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watch?v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=eDN6fAWLNNE&amp;t=5425s</a:t>
            </a:r>
            <a:endParaRPr lang="en-US" sz="1600" u="sng" dirty="0">
              <a:solidFill>
                <a:schemeClr val="bg1"/>
              </a:solidFill>
              <a:effectLst/>
              <a:highlight>
                <a:srgbClr val="808000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/>
              </a:rPr>
              <a:t>9- GEMMA-9B Integration with GROQ, HUGGINGFACE &amp; LANGCHAIN: 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youtube.com/</a:t>
            </a:r>
            <a:r>
              <a:rPr lang="en-US" sz="1600" b="1" u="sng" dirty="0" err="1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watch?v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=Bp1XyvMvedg&amp;t=7086s</a:t>
            </a:r>
            <a:endParaRPr lang="en-US" sz="1600" u="sng" dirty="0">
              <a:solidFill>
                <a:schemeClr val="bg1"/>
              </a:solidFill>
              <a:effectLst/>
              <a:highlight>
                <a:srgbClr val="808000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/>
              </a:rPr>
              <a:t>10- NLP: 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youtube.com/</a:t>
            </a:r>
            <a:r>
              <a:rPr lang="en-US" sz="1600" b="1" u="sng" dirty="0" err="1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watch?v</a:t>
            </a:r>
            <a:r>
              <a:rPr lang="en-US" sz="1600" b="1" u="sng" dirty="0">
                <a:solidFill>
                  <a:schemeClr val="bg1"/>
                </a:solidFill>
                <a:effectLst/>
                <a:highlight>
                  <a:srgbClr val="808000"/>
                </a:highlight>
              </a:rPr>
              <a:t>=s-xhKH-e8ig&amp;t=5844s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11- RAG: </a:t>
            </a:r>
            <a:r>
              <a:rPr lang="en-US" sz="1600" b="1" dirty="0">
                <a:solidFill>
                  <a:schemeClr val="bg1"/>
                </a:solidFill>
                <a:highlight>
                  <a:srgbClr val="808000"/>
                </a:highligh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www.youtube.com/watch?v=8nWjvn8ZKtU&amp;t=7553s</a:t>
            </a:r>
            <a:endParaRPr lang="en-US" sz="1600" b="1" dirty="0">
              <a:solidFill>
                <a:schemeClr val="bg1"/>
              </a:solidFill>
              <a:highlight>
                <a:srgbClr val="808000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12-  CREW AI: </a:t>
            </a:r>
            <a:r>
              <a:rPr lang="en-US" sz="16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</a:t>
            </a:r>
            <a:r>
              <a:rPr lang="en-US" sz="1600" b="1" dirty="0">
                <a:solidFill>
                  <a:schemeClr val="bg1"/>
                </a:solidFill>
                <a:highlight>
                  <a:srgbClr val="808000"/>
                </a:highligh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tps://www.youtube.com/watch?v=0gqlrw-6I0s</a:t>
            </a:r>
            <a:endParaRPr lang="en-US" sz="1600" b="1" dirty="0">
              <a:solidFill>
                <a:schemeClr val="bg1"/>
              </a:solidFill>
              <a:highlight>
                <a:srgbClr val="808000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13- STABLE DIFFUSION : </a:t>
            </a:r>
            <a:r>
              <a:rPr lang="en-US" sz="1600" b="1" dirty="0">
                <a:solidFill>
                  <a:schemeClr val="bg1"/>
                </a:solidFill>
                <a:highlight>
                  <a:srgbClr val="808000"/>
                </a:highlight>
              </a:rPr>
              <a:t> </a:t>
            </a:r>
            <a:r>
              <a:rPr lang="en-US" sz="1600" b="1" u="sng" dirty="0">
                <a:solidFill>
                  <a:schemeClr val="bg1"/>
                </a:solidFill>
                <a:highlight>
                  <a:srgbClr val="808000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https://www.youtube.com/watch?v=c1GqJ-VFLW0</a:t>
            </a:r>
            <a:endParaRPr lang="en-US" sz="1600" b="1" u="sng" dirty="0">
              <a:solidFill>
                <a:schemeClr val="bg1"/>
              </a:solidFill>
              <a:highlight>
                <a:srgbClr val="808000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14- STATISTIC : </a:t>
            </a:r>
            <a:r>
              <a:rPr lang="en-US" sz="1600" b="1" u="sng" dirty="0">
                <a:solidFill>
                  <a:schemeClr val="bg1"/>
                </a:solidFill>
                <a:highlight>
                  <a:srgbClr val="808000"/>
                </a:highlight>
              </a:rPr>
              <a:t>https://www.youtube.com/watch?v=baJi1276DcU&amp;t=1288s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15- why to choose </a:t>
            </a:r>
            <a:r>
              <a:rPr lang="en-US" sz="1600" b="1" dirty="0" err="1">
                <a:solidFill>
                  <a:schemeClr val="bg1"/>
                </a:solidFill>
              </a:rPr>
              <a:t>fsds</a:t>
            </a:r>
            <a:r>
              <a:rPr lang="en-US" sz="1600" b="1" dirty="0">
                <a:solidFill>
                  <a:schemeClr val="bg1"/>
                </a:solidFill>
              </a:rPr>
              <a:t> with </a:t>
            </a:r>
            <a:r>
              <a:rPr lang="en-US" sz="1600" b="1" dirty="0" err="1">
                <a:solidFill>
                  <a:schemeClr val="bg1"/>
                </a:solidFill>
              </a:rPr>
              <a:t>Genai</a:t>
            </a:r>
            <a:r>
              <a:rPr lang="en-US" sz="1600" b="1" dirty="0">
                <a:solidFill>
                  <a:schemeClr val="bg1"/>
                </a:solidFill>
              </a:rPr>
              <a:t> ( llama 3.2 model) : </a:t>
            </a:r>
            <a:r>
              <a:rPr lang="en-US" sz="1600" b="1" u="sng" dirty="0">
                <a:solidFill>
                  <a:schemeClr val="bg1"/>
                </a:solidFill>
                <a:highlight>
                  <a:srgbClr val="808000"/>
                </a:highlight>
              </a:rPr>
              <a:t>https://www.youtube.com/watch?v=UgFerJcuICw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16- prompt engineer: </a:t>
            </a:r>
            <a:r>
              <a:rPr lang="en-US" sz="1600" b="1" u="sng" dirty="0">
                <a:solidFill>
                  <a:schemeClr val="bg1"/>
                </a:solidFill>
                <a:highlight>
                  <a:srgbClr val="808000"/>
                </a:highlight>
              </a:rPr>
              <a:t>https://www.youtube.com/watch?v=2n-RIgSNnwQ&amp;t=8628s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600" b="1" i="0" dirty="0">
              <a:solidFill>
                <a:schemeClr val="bg1"/>
              </a:solidFill>
              <a:effectLst/>
              <a:highlight>
                <a:srgbClr val="0F0F0F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600" b="1" i="0" dirty="0">
              <a:solidFill>
                <a:schemeClr val="bg1"/>
              </a:solidFill>
              <a:effectLst/>
              <a:highlight>
                <a:srgbClr val="0F0F0F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600" b="1" i="0" dirty="0">
              <a:solidFill>
                <a:schemeClr val="bg1"/>
              </a:solidFill>
              <a:effectLst/>
              <a:highlight>
                <a:srgbClr val="0F0F0F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600" b="1" i="0" dirty="0">
              <a:solidFill>
                <a:schemeClr val="bg1"/>
              </a:solidFill>
              <a:effectLst/>
              <a:highlight>
                <a:srgbClr val="0F0F0F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600" b="1" i="0" dirty="0">
              <a:solidFill>
                <a:schemeClr val="bg1"/>
              </a:solidFill>
              <a:effectLst/>
              <a:highlight>
                <a:srgbClr val="0F0F0F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70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64CC3DFB-D81A-1A9C-2849-95B508798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16" y="206829"/>
            <a:ext cx="6668501" cy="6433840"/>
          </a:xfrm>
          <a:prstGeom prst="rect">
            <a:avLst/>
          </a:prstGeom>
        </p:spPr>
      </p:pic>
      <p:pic>
        <p:nvPicPr>
          <p:cNvPr id="4" name="Picture 3" descr="A red and white rectangular frame with white text&#10;&#10;Description automatically generated">
            <a:extLst>
              <a:ext uri="{FF2B5EF4-FFF2-40B4-BE49-F238E27FC236}">
                <a16:creationId xmlns:a16="http://schemas.microsoft.com/office/drawing/2014/main" id="{7BF427AF-0A0D-7AEE-6501-40B4B6C601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09" r="-1" b="18749"/>
          <a:stretch/>
        </p:blipFill>
        <p:spPr>
          <a:xfrm>
            <a:off x="6972532" y="4410932"/>
            <a:ext cx="5218701" cy="2118098"/>
          </a:xfrm>
          <a:prstGeom prst="rect">
            <a:avLst/>
          </a:prstGeom>
        </p:spPr>
      </p:pic>
      <p:pic>
        <p:nvPicPr>
          <p:cNvPr id="5" name="Picture 4" descr="A black cube with a white and black symbol on it&#10;&#10;Description automatically generated">
            <a:extLst>
              <a:ext uri="{FF2B5EF4-FFF2-40B4-BE49-F238E27FC236}">
                <a16:creationId xmlns:a16="http://schemas.microsoft.com/office/drawing/2014/main" id="{58027BE9-923B-0AC6-C811-E5B6754340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657" r="2" b="1892"/>
          <a:stretch/>
        </p:blipFill>
        <p:spPr>
          <a:xfrm>
            <a:off x="6999514" y="1023257"/>
            <a:ext cx="5165124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944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735</Words>
  <Application>Microsoft Office PowerPoint</Application>
  <PresentationFormat>Widescreen</PresentationFormat>
  <Paragraphs>99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Wingdings</vt:lpstr>
      <vt:lpstr>Office Theme</vt:lpstr>
      <vt:lpstr>Package</vt:lpstr>
      <vt:lpstr>PowerPoint Presentation</vt:lpstr>
      <vt:lpstr>AGENDA</vt:lpstr>
      <vt:lpstr>PowerPoint Presentation</vt:lpstr>
      <vt:lpstr>PowerPoint Presentation</vt:lpstr>
      <vt:lpstr>What is DeepSeek ?</vt:lpstr>
      <vt:lpstr>DEEP SEEK MODEL </vt:lpstr>
      <vt:lpstr>Project:1  DeepSeek-R1 Bot Using Ollama</vt:lpstr>
      <vt:lpstr>Project:2 DeepSeek Integration using OpenRouter</vt:lpstr>
      <vt:lpstr>GENERATIVE AI PREVIOUS RECORDING SESSION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kodi prakash senapati</dc:creator>
  <cp:lastModifiedBy>kodi prakash senapati</cp:lastModifiedBy>
  <cp:revision>8</cp:revision>
  <dcterms:created xsi:type="dcterms:W3CDTF">2025-02-08T10:06:11Z</dcterms:created>
  <dcterms:modified xsi:type="dcterms:W3CDTF">2025-02-09T07:13:23Z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2025-02-08T11:41:20Z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fef07c45-9e0d-4224-8a97-78a39d8ae827</vt:lpwstr>
  </property>
  <property fmtid="{D5CDD505-2E9C-101B-9397-08002B2CF9AE}" pid="7" name="MSIP_Label_defa4170-0d19-0005-0004-bc88714345d2_ActionId">
    <vt:lpwstr>ab05e482-b991-4f9b-bd3f-e0210be1c897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